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440" r:id="rId4"/>
    <p:sldId id="258" r:id="rId5"/>
    <p:sldId id="455" r:id="rId6"/>
    <p:sldId id="268" r:id="rId7"/>
    <p:sldId id="269" r:id="rId8"/>
    <p:sldId id="261" r:id="rId9"/>
    <p:sldId id="265" r:id="rId10"/>
    <p:sldId id="273" r:id="rId11"/>
    <p:sldId id="457" r:id="rId12"/>
    <p:sldId id="272" r:id="rId13"/>
    <p:sldId id="264" r:id="rId14"/>
    <p:sldId id="450" r:id="rId15"/>
    <p:sldId id="454" r:id="rId16"/>
    <p:sldId id="274" r:id="rId17"/>
    <p:sldId id="446" r:id="rId18"/>
    <p:sldId id="447" r:id="rId19"/>
    <p:sldId id="442" r:id="rId20"/>
    <p:sldId id="443" r:id="rId21"/>
    <p:sldId id="444" r:id="rId22"/>
    <p:sldId id="448" r:id="rId23"/>
    <p:sldId id="285" r:id="rId24"/>
    <p:sldId id="451" r:id="rId25"/>
    <p:sldId id="452" r:id="rId26"/>
    <p:sldId id="449" r:id="rId27"/>
    <p:sldId id="271" r:id="rId28"/>
    <p:sldId id="266" r:id="rId29"/>
    <p:sldId id="445" r:id="rId30"/>
    <p:sldId id="453" r:id="rId31"/>
    <p:sldId id="456" r:id="rId32"/>
    <p:sldId id="263" r:id="rId33"/>
    <p:sldId id="45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A4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120E10-C937-41A7-889D-D80AAAD96A59}" v="1471" dt="2026-06-29T10:01:02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E9057-2532-4AA5-B111-EE571D6547CE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7E841-410B-412B-8930-0B30DF92CC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8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AEF94-BB49-C167-1F19-D7A5B1EFC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79964F-0F7E-8E57-58B6-9BD44295C2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A8A7D4-7AF1-30E3-8C4A-8B740B3C94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30E2D-77B3-87AC-BA47-34E40AE7FC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4B7D9-8ABF-6C42-A79E-D94DE89E2BD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41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347EB-86DD-7ADC-A30A-B0349A590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9D466-6C81-A2C1-D1DD-2770060580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8A2181-FE95-66FC-08F6-03B5431AA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B711-A9DC-E190-4CDB-2257BA4EA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0C738-01B4-7619-F68F-C48AE07E4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3734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C7FB7-B485-DA31-371A-CB0A3553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F8DEE-8C3A-A128-4C44-1B48C9281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AC635-41AE-C42F-C7C6-555D82F4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94D02-F4DA-6023-FFB6-FEBFDAF94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CC788-A70B-FEFA-2733-C3FBC730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921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2014E4-64CC-3714-BE49-599C1577C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B0A39-C84A-697A-B5E5-0463417622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0FBE2-23EE-D822-2006-541DBBCFA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451E8-ED52-9E5D-FA65-0A0F533E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9E958-31F5-4E56-7F48-BA0D99FBE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1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85FCF-5A45-0331-D743-BB0689A8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EB8108-3B74-A543-AA24-860577B511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742F17-21F1-FFF1-FBFC-6349EFDD0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FF639E-A13E-2B45-E041-6299A5FF0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8930B-C7B1-C625-8174-AD7FFE0C1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069A2-A6F1-F2D3-64D8-4F8351750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25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FCE8E-9B1E-8A15-FAB5-CBA7FCD5C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2F09D-E7D8-17B9-9CDE-4E071FB1B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BCACF6-1FF1-B1AD-4B97-63388E791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3B1EE7-FF5F-BB7C-4965-C068E07474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F3B19-FF58-3B14-71A5-F0F11C27B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EE4296-A51F-D581-436C-CE35E366E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0CA0A0-D5B7-1644-3EC5-9810488D6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486755-DD17-EE27-96BB-4787285AE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2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FF21-7343-E2D7-3B35-21DFEF6FC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2D0795-0866-EA72-537E-B01E46CFE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843C1-A217-A1B8-F189-350378398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2EF08-2AC8-C298-5B2A-8321C27C7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81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5E672F-1CDF-DE51-AC21-DD73313BA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FADF7-A7A7-7D87-4AE7-1E60B04E3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72430-175D-8A56-BB14-FEFD243B0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88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8F9D0-9173-1D96-5D41-0644C4949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38F078-F98C-F808-49CF-7C9D86C53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CB80F-59ED-86B1-666C-08960E7DA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29CF57-F914-F3EC-43C5-618A7422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20DED-3208-241B-43FF-F13CF2FC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E5965-FB9D-BB0A-E499-2F87F6866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496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F8D7-7972-51DA-788B-82EBD7F39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6779D9-A7E9-449F-5769-BC31AEE03D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52C2F8-5008-DF1E-2D63-BB5438856F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60633E-B375-74D4-7BE6-76ADAFD27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B3598E-60E5-08D5-A584-6BD7ED395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2DB68-3C06-4D89-032B-63AD8695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84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F1DB3-9990-6EB6-4F9B-674141F4B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6BACA8-EAA2-756C-BEAC-5C557F436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15FFF9-24BA-DA4F-9899-1577EE695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5F255-662C-9CDF-5CA1-EF68140E0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308F8-5EE3-0CEC-3743-69546E74F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38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28C45C-3F00-051E-5AC3-63AA62815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1283F9-CD52-2FDF-C114-C3254739E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5D579-C1B7-6495-C5E9-A1650B2B1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EAF28-BD9F-4021-5F9E-02109EC9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CFB496-955B-ABCE-0BD3-F824AE1D0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058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6">
                <a:lumMod val="60000"/>
                <a:lumOff val="4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16C7D3-621B-539F-2AC4-804F03C98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97EDE2-134A-114F-32C4-6CC2C5F687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89B88-0EC7-6F7A-10E3-BFD36D481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C00F46-46DF-4EFA-AB76-B8974AED40C0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75972-613E-9CBC-FA2A-BB6AA3BCA6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92DF0-48B5-C92B-6580-18DD08E896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D8D82A-EC8A-4A2E-85AA-9279F9E4CE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395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gif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reesurfer/petsurfer-bid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1.png"/><Relationship Id="rId7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40.png"/><Relationship Id="rId4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hyperlink" Target="https://github.com/freesurfer/petsurfer-bids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63C0-253C-F84A-2493-C15B56454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7636" y="438016"/>
            <a:ext cx="1056122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PETsurfer-BIDS: a BIDS App for Voxel- and Vertex-wise Kinetic Modeling of PET Data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98DDD-12A9-5742-5D22-58FC8C66B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263" y="3022170"/>
            <a:ext cx="9144000" cy="1655762"/>
          </a:xfrm>
        </p:spPr>
        <p:txBody>
          <a:bodyPr>
            <a:noAutofit/>
          </a:bodyPr>
          <a:lstStyle/>
          <a:p>
            <a:r>
              <a:rPr lang="en-US" sz="2000" dirty="0"/>
              <a:t>Douglas Greve</a:t>
            </a:r>
            <a:r>
              <a:rPr lang="en-US" sz="2000" baseline="30000" dirty="0"/>
              <a:t>1,2 </a:t>
            </a:r>
            <a:r>
              <a:rPr lang="en-US" sz="2000" dirty="0"/>
              <a:t>, Paul Wighton</a:t>
            </a:r>
            <a:r>
              <a:rPr lang="en-US" sz="2000" baseline="30000" dirty="0"/>
              <a:t>1,2</a:t>
            </a:r>
            <a:r>
              <a:rPr lang="en-US" sz="2000" dirty="0"/>
              <a:t>, Martin Norgaard</a:t>
            </a:r>
            <a:r>
              <a:rPr lang="en-US" sz="2000" baseline="30000" dirty="0"/>
              <a:t>3,4</a:t>
            </a:r>
            <a:r>
              <a:rPr lang="en-US" sz="2000" dirty="0"/>
              <a:t>, Granville Matheson</a:t>
            </a:r>
            <a:r>
              <a:rPr lang="en-US" sz="2000" baseline="30000" dirty="0"/>
              <a:t>5</a:t>
            </a:r>
            <a:r>
              <a:rPr lang="en-US" sz="2000" dirty="0"/>
              <a:t>, Melanie Ganz</a:t>
            </a:r>
            <a:r>
              <a:rPr lang="en-US" sz="2000" baseline="30000" dirty="0"/>
              <a:t>3,6</a:t>
            </a:r>
            <a:r>
              <a:rPr lang="en-US" sz="2000" dirty="0"/>
              <a:t>, Cyril Pernet</a:t>
            </a:r>
            <a:r>
              <a:rPr lang="en-US" sz="2000" baseline="30000" dirty="0"/>
              <a:t>6</a:t>
            </a:r>
            <a:r>
              <a:rPr lang="en-US" sz="2000" dirty="0"/>
              <a:t>, Anthony Galassi</a:t>
            </a:r>
            <a:r>
              <a:rPr lang="en-US" sz="2000" baseline="30000" dirty="0"/>
              <a:t>4</a:t>
            </a:r>
            <a:r>
              <a:rPr lang="en-US" sz="2000" dirty="0"/>
              <a:t>, Gitte Knudsen</a:t>
            </a:r>
            <a:r>
              <a:rPr lang="en-US" sz="2000" baseline="30000" dirty="0"/>
              <a:t>6,7</a:t>
            </a:r>
            <a:r>
              <a:rPr lang="en-US" sz="2000" dirty="0"/>
              <a:t>, Robert Innis</a:t>
            </a:r>
            <a:r>
              <a:rPr lang="en-US" sz="2000" baseline="30000" dirty="0"/>
              <a:t>4</a:t>
            </a:r>
            <a:r>
              <a:rPr lang="en-US" sz="2000" dirty="0"/>
              <a:t> </a:t>
            </a:r>
          </a:p>
          <a:p>
            <a:r>
              <a:rPr lang="en-US" sz="1600" dirty="0"/>
              <a:t>1 Martinos Center, Massachusetts General Brigham, Boston, MA, USA 2 Harvard Medical School, Boston, MA, USA 3 Department of Computer Science, University of Copenhagen, Denmark 4 Molecular Imaging Branch, National Institute of Mental Health (NIMH), United States 5 Centre for Psychiatry Research, Department of Clinical Neuroscience, Karolinska </a:t>
            </a:r>
            <a:r>
              <a:rPr lang="en-US" sz="1600" dirty="0" err="1"/>
              <a:t>Institutet</a:t>
            </a:r>
            <a:r>
              <a:rPr lang="en-US" sz="1600" dirty="0"/>
              <a:t> &amp; Stockholm Health Care Services, Region Stockholm, Sweden 6 Neurobiology Research Unit, Rigshospitalet, Denmark 7 Department of Clinical Medicine, University of Copenhagen, Denmark</a:t>
            </a:r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59B0DF11-7479-E0AF-0502-55E73E863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7094" y="6088654"/>
            <a:ext cx="2269595" cy="6337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8C0DABA-07F9-F751-73A5-88FCDDB7A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11" y="5983769"/>
            <a:ext cx="2356717" cy="6733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D7BB70-B142-54E8-F810-3EE04F86B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5263" y="5983769"/>
            <a:ext cx="700894" cy="673348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0033EA86-AE14-F9EC-5D0B-F49AFBB805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634" y="5841716"/>
            <a:ext cx="1321738" cy="9574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15E698-CBBE-FEFB-2A0C-2F899C81CC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15688" y="6051780"/>
            <a:ext cx="1238188" cy="5373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317713-70BD-EA64-6560-DB0E5B88B6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0347" y="6079036"/>
            <a:ext cx="2748935" cy="48281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2FA70CC-811F-D1D7-6885-0B01820A6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8087" y="0"/>
            <a:ext cx="1013913" cy="132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euroReceptor Mapping Conference 2026">
            <a:extLst>
              <a:ext uri="{FF2B5EF4-FFF2-40B4-BE49-F238E27FC236}">
                <a16:creationId xmlns:a16="http://schemas.microsoft.com/office/drawing/2014/main" id="{D465B9BB-2E4D-2955-FA3B-E49EEEDDEC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0" r="59611"/>
          <a:stretch>
            <a:fillRect/>
          </a:stretch>
        </p:blipFill>
        <p:spPr bwMode="auto">
          <a:xfrm>
            <a:off x="-11579" y="0"/>
            <a:ext cx="1049982" cy="1034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454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6F78-CB2E-CA62-E046-A731E1CA0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-113662"/>
            <a:ext cx="10515600" cy="1325563"/>
          </a:xfrm>
        </p:spPr>
        <p:txBody>
          <a:bodyPr/>
          <a:lstStyle/>
          <a:p>
            <a:r>
              <a:rPr lang="en-US" dirty="0"/>
              <a:t>PETsurfer BIDS App Overview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A8C26A-E4B6-ED53-3EAB-6FB7970A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68223" y="6356350"/>
            <a:ext cx="512085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2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0D761B-C179-CA70-526B-45FDE7A59D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24" t="3508" r="2468" b="4000"/>
          <a:stretch>
            <a:fillRect/>
          </a:stretch>
        </p:blipFill>
        <p:spPr>
          <a:xfrm>
            <a:off x="9348093" y="4959748"/>
            <a:ext cx="1680188" cy="1698227"/>
          </a:xfrm>
          <a:prstGeom prst="rect">
            <a:avLst/>
          </a:prstGeom>
        </p:spPr>
      </p:pic>
      <p:pic>
        <p:nvPicPr>
          <p:cNvPr id="6" name="Picture 4" descr="NeuroReceptor Mapping Conference 2026">
            <a:extLst>
              <a:ext uri="{FF2B5EF4-FFF2-40B4-BE49-F238E27FC236}">
                <a16:creationId xmlns:a16="http://schemas.microsoft.com/office/drawing/2014/main" id="{A0F01911-F3F9-EE89-ECD8-F6D9F626D7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0" r="59611"/>
          <a:stretch>
            <a:fillRect/>
          </a:stretch>
        </p:blipFill>
        <p:spPr bwMode="auto">
          <a:xfrm>
            <a:off x="9305703" y="2922779"/>
            <a:ext cx="1722578" cy="169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CDEEEA6-DD64-0DE8-D799-C427B89784BC}"/>
              </a:ext>
            </a:extLst>
          </p:cNvPr>
          <p:cNvSpPr txBox="1">
            <a:spLocks/>
          </p:cNvSpPr>
          <p:nvPr/>
        </p:nvSpPr>
        <p:spPr>
          <a:xfrm>
            <a:off x="604726" y="909531"/>
            <a:ext cx="10730024" cy="42148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/>
              <a:t>PETsurfer developed in 2014 (FreeSurfer)</a:t>
            </a:r>
          </a:p>
          <a:p>
            <a:r>
              <a:rPr lang="en-US" sz="3600" dirty="0"/>
              <a:t>Ingests </a:t>
            </a:r>
            <a:r>
              <a:rPr lang="en-US" sz="3600" dirty="0" err="1"/>
              <a:t>PETprep</a:t>
            </a:r>
            <a:r>
              <a:rPr lang="en-US" sz="3600" dirty="0"/>
              <a:t> and Bloodstream BIDS derivatives</a:t>
            </a:r>
          </a:p>
          <a:p>
            <a:r>
              <a:rPr lang="en-US" sz="3600" dirty="0"/>
              <a:t>Creates BIDS derivatives</a:t>
            </a:r>
          </a:p>
          <a:p>
            <a:r>
              <a:rPr lang="en-US" sz="3600" dirty="0"/>
              <a:t>Offers voxel-wise KM of PET data</a:t>
            </a:r>
          </a:p>
          <a:p>
            <a:pPr lvl="1"/>
            <a:r>
              <a:rPr lang="en-US" sz="3600" dirty="0"/>
              <a:t>Volume </a:t>
            </a:r>
          </a:p>
          <a:p>
            <a:pPr lvl="1"/>
            <a:r>
              <a:rPr lang="en-US" sz="3600" dirty="0"/>
              <a:t>“Pure” Surface</a:t>
            </a:r>
          </a:p>
          <a:p>
            <a:pPr lvl="1"/>
            <a:r>
              <a:rPr lang="en-US" sz="3600" dirty="0"/>
              <a:t>Easy to use</a:t>
            </a:r>
          </a:p>
          <a:p>
            <a:r>
              <a:rPr lang="en-US" sz="3600" dirty="0"/>
              <a:t>Benefits of Surface-based Analysis</a:t>
            </a:r>
          </a:p>
          <a:p>
            <a:r>
              <a:rPr lang="en-US" sz="3600" dirty="0"/>
              <a:t>Individual Analysis in PETsurfer</a:t>
            </a:r>
          </a:p>
          <a:p>
            <a:r>
              <a:rPr lang="en-US" sz="3600" dirty="0"/>
              <a:t>Group Analysis in PETsurfer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38C4BB-AC55-269C-C270-00A43BCAD87E}"/>
              </a:ext>
            </a:extLst>
          </p:cNvPr>
          <p:cNvCxnSpPr>
            <a:endCxn id="6" idx="1"/>
          </p:cNvCxnSpPr>
          <p:nvPr/>
        </p:nvCxnSpPr>
        <p:spPr>
          <a:xfrm>
            <a:off x="3276600" y="3551237"/>
            <a:ext cx="6029103" cy="220264"/>
          </a:xfrm>
          <a:prstGeom prst="straightConnector1">
            <a:avLst/>
          </a:prstGeom>
          <a:ln w="539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083EEB-A0E3-621C-F4CA-9DD65A2CFC57}"/>
              </a:ext>
            </a:extLst>
          </p:cNvPr>
          <p:cNvCxnSpPr>
            <a:cxnSpLocks/>
          </p:cNvCxnSpPr>
          <p:nvPr/>
        </p:nvCxnSpPr>
        <p:spPr>
          <a:xfrm>
            <a:off x="4610100" y="4152900"/>
            <a:ext cx="4737993" cy="1291234"/>
          </a:xfrm>
          <a:prstGeom prst="straightConnector1">
            <a:avLst/>
          </a:prstGeom>
          <a:ln w="53975"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86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DE26D-C0FC-296E-78DA-C19696948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6" descr="lh">
            <a:extLst>
              <a:ext uri="{FF2B5EF4-FFF2-40B4-BE49-F238E27FC236}">
                <a16:creationId xmlns:a16="http://schemas.microsoft.com/office/drawing/2014/main" id="{1C14EDBF-83CE-24A9-349E-0CDD9CA95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192" y="1216727"/>
            <a:ext cx="3921030" cy="239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7" descr="lh">
            <a:extLst>
              <a:ext uri="{FF2B5EF4-FFF2-40B4-BE49-F238E27FC236}">
                <a16:creationId xmlns:a16="http://schemas.microsoft.com/office/drawing/2014/main" id="{3687DCA7-143D-204B-4F81-1DCF3777A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619" y="1207202"/>
            <a:ext cx="3875181" cy="2385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 Box 11">
            <a:extLst>
              <a:ext uri="{FF2B5EF4-FFF2-40B4-BE49-F238E27FC236}">
                <a16:creationId xmlns:a16="http://schemas.microsoft.com/office/drawing/2014/main" id="{798BA362-9772-E2C3-5B65-08EC47A637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4508" y="3598514"/>
            <a:ext cx="2271091" cy="5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sz="2800" dirty="0">
                <a:solidFill>
                  <a:schemeClr val="tx1"/>
                </a:solidFill>
              </a:rPr>
              <a:t>White Surface</a:t>
            </a:r>
          </a:p>
        </p:txBody>
      </p:sp>
      <p:sp>
        <p:nvSpPr>
          <p:cNvPr id="37" name="Text Box 11">
            <a:extLst>
              <a:ext uri="{FF2B5EF4-FFF2-40B4-BE49-F238E27FC236}">
                <a16:creationId xmlns:a16="http://schemas.microsoft.com/office/drawing/2014/main" id="{55E86648-44DF-2B1B-A524-49ED739B8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3997" y="3563550"/>
            <a:ext cx="2462203" cy="5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sz="2800">
                <a:solidFill>
                  <a:schemeClr val="tx1"/>
                </a:solidFill>
              </a:rPr>
              <a:t> Pial Surface</a:t>
            </a:r>
          </a:p>
        </p:txBody>
      </p:sp>
      <p:pic>
        <p:nvPicPr>
          <p:cNvPr id="51" name="Picture 5" descr="lh">
            <a:extLst>
              <a:ext uri="{FF2B5EF4-FFF2-40B4-BE49-F238E27FC236}">
                <a16:creationId xmlns:a16="http://schemas.microsoft.com/office/drawing/2014/main" id="{1A7A3E70-9E47-AAB5-40F9-7BFEF75E7E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191557"/>
            <a:ext cx="4349266" cy="24429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8F43F5-796C-5D8E-71DA-84A8AD9DA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91783" y="6356350"/>
            <a:ext cx="14564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BE"/>
            </a:defPPr>
            <a:lvl1pPr marL="0" algn="ctr" defTabSz="914400" rtl="0" eaLnBrk="1" latinLnBrk="0" hangingPunct="1">
              <a:defRPr sz="1200" b="0" i="0" kern="1200">
                <a:solidFill>
                  <a:schemeClr val="tx1">
                    <a:tint val="82000"/>
                  </a:schemeClr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6730CAD-8DE1-7946-9DCE-E83D81D40C60}" type="slidenum">
              <a:rPr lang="en-BE" smtClean="0">
                <a:solidFill>
                  <a:schemeClr val="tx1"/>
                </a:solidFill>
              </a:rPr>
              <a:pPr/>
              <a:t>3</a:t>
            </a:fld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A721ADB-5C4C-A7FB-A642-E8A366AC6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>
                <a:cs typeface="Times New Roman" panose="02020603050405020304" pitchFamily="18" charset="0"/>
              </a:rPr>
              <a:t>Cortex is a 2D Surface Folded in 3D space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BA1F95-2313-1864-43DE-28CDDED7AA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697" y="1194250"/>
            <a:ext cx="2874777" cy="2565753"/>
          </a:xfrm>
          <a:prstGeom prst="rect">
            <a:avLst/>
          </a:prstGeom>
        </p:spPr>
      </p:pic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B17B73F7-43D8-E667-88A7-6F7A07F3E0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59" y="6224297"/>
            <a:ext cx="2269595" cy="633703"/>
          </a:xfrm>
          <a:prstGeom prst="rect">
            <a:avLst/>
          </a:prstGeom>
        </p:spPr>
      </p:pic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C05800C3-7F74-C49A-71A3-459DDAC6FB5D}"/>
              </a:ext>
            </a:extLst>
          </p:cNvPr>
          <p:cNvSpPr txBox="1">
            <a:spLocks/>
          </p:cNvSpPr>
          <p:nvPr/>
        </p:nvSpPr>
        <p:spPr>
          <a:xfrm>
            <a:off x="11568223" y="6356350"/>
            <a:ext cx="51208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5D8D82A-EC8A-4A2E-85AA-9279F9E4CE81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Box 11">
            <a:extLst>
              <a:ext uri="{FF2B5EF4-FFF2-40B4-BE49-F238E27FC236}">
                <a16:creationId xmlns:a16="http://schemas.microsoft.com/office/drawing/2014/main" id="{AFC25C8D-E268-1DB9-E3B4-5EA2446013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85" y="3848570"/>
            <a:ext cx="2709818" cy="5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8555" tIns="34278" rIns="68555" bIns="34278">
            <a:spAutoFit/>
          </a:bodyPr>
          <a:lstStyle>
            <a:lvl1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eaLnBrk="0" hangingPunct="0"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400">
                <a:solidFill>
                  <a:schemeClr val="bg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/>
            <a:r>
              <a:rPr lang="en-US" sz="2800" dirty="0">
                <a:solidFill>
                  <a:schemeClr val="tx1"/>
                </a:solidFill>
              </a:rPr>
              <a:t>MRI Necessary</a:t>
            </a:r>
          </a:p>
        </p:txBody>
      </p:sp>
    </p:spTree>
    <p:extLst>
      <p:ext uri="{BB962C8B-B14F-4D97-AF65-F5344CB8AC3E}">
        <p14:creationId xmlns:p14="http://schemas.microsoft.com/office/powerpoint/2010/main" val="453744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66BE-2D83-687F-B13E-9028370DC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1DC1-3E74-8E0B-F55A-182B7229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Benefits of Surface-based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BA663-D166-EF0A-BBAD-A8B123751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844" y="1180298"/>
            <a:ext cx="11215356" cy="4351338"/>
          </a:xfrm>
        </p:spPr>
        <p:txBody>
          <a:bodyPr>
            <a:noAutofit/>
          </a:bodyPr>
          <a:lstStyle/>
          <a:p>
            <a:r>
              <a:rPr lang="en-US" dirty="0"/>
              <a:t>Visualization of cortical activity and effects</a:t>
            </a:r>
          </a:p>
          <a:p>
            <a:r>
              <a:rPr lang="en-US" dirty="0"/>
              <a:t>Avoid Adding Partial Volume Effects (PVEs)</a:t>
            </a:r>
          </a:p>
          <a:p>
            <a:pPr lvl="1"/>
            <a:r>
              <a:rPr lang="en-US" dirty="0"/>
              <a:t>Post-reconstruction smoothing along the surface instead of 3D</a:t>
            </a:r>
          </a:p>
          <a:p>
            <a:pPr lvl="1"/>
            <a:r>
              <a:rPr lang="en-US" dirty="0"/>
              <a:t>Don’t mix tissue types at group level (vs volume with DARTEL, ANTS FSL, …)</a:t>
            </a:r>
          </a:p>
          <a:p>
            <a:r>
              <a:rPr lang="en-US" dirty="0"/>
              <a:t>Only valid way to do voxel-wise analysis in cortex with Partial Volume Correction (PVC)</a:t>
            </a:r>
          </a:p>
          <a:p>
            <a:r>
              <a:rPr lang="en-US" dirty="0"/>
              <a:t>Group Analysis -- better registration of cortex across subjects</a:t>
            </a:r>
          </a:p>
          <a:p>
            <a:r>
              <a:rPr lang="en-US" u="sng" dirty="0"/>
              <a:t>Only for cortex (GM) </a:t>
            </a:r>
            <a:r>
              <a:rPr lang="en-US" dirty="0"/>
              <a:t>– subcortical still needs traditional volume-based analysis, which can still be done in PETsurfer</a:t>
            </a:r>
          </a:p>
          <a:p>
            <a:r>
              <a:rPr lang="en-US" dirty="0"/>
              <a:t>PETsurfer can do full whole brain traditional volume-based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DDFAE9-1ABA-A5B9-E520-68F63FDEE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4464" y="6356350"/>
            <a:ext cx="305844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809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DE9FB-B16F-2A12-54A4-2EC9E8139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191614B-ED25-F021-5AD8-F403BC7B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18" y="-113759"/>
            <a:ext cx="11612415" cy="1325563"/>
          </a:xfrm>
        </p:spPr>
        <p:txBody>
          <a:bodyPr/>
          <a:lstStyle/>
          <a:p>
            <a:r>
              <a:rPr lang="en-US" dirty="0"/>
              <a:t>Case Study: Cyclooxygenase-2 (COX-2) [</a:t>
            </a:r>
            <a:r>
              <a:rPr lang="en-US" baseline="30000" dirty="0"/>
              <a:t>11</a:t>
            </a:r>
            <a:r>
              <a:rPr lang="en-US" dirty="0"/>
              <a:t>C]MC1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29472812-80F1-140C-E159-EE25A7510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3520" y="6356350"/>
            <a:ext cx="426788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5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58D783-CFF7-417A-25D2-9E90F8C3FE53}"/>
              </a:ext>
            </a:extLst>
          </p:cNvPr>
          <p:cNvSpPr txBox="1"/>
          <p:nvPr/>
        </p:nvSpPr>
        <p:spPr>
          <a:xfrm>
            <a:off x="464866" y="2840593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https://openneuro.org/datasets/ds004869/versions/1.3.2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CBCD203-609E-FDAC-601C-1D4846AF1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66" y="1101919"/>
            <a:ext cx="5554098" cy="173867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0548F2-26B1-ADD4-2B49-AD82E0A4C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66" y="3360158"/>
            <a:ext cx="4891268" cy="29571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AF5A94F-7A33-1BD3-DD73-0DB2FA2582F1}"/>
              </a:ext>
            </a:extLst>
          </p:cNvPr>
          <p:cNvSpPr txBox="1"/>
          <p:nvPr/>
        </p:nvSpPr>
        <p:spPr>
          <a:xfrm>
            <a:off x="7173497" y="1101919"/>
            <a:ext cx="290316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27 Subjects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10 Subjects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Baseline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Blocking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17 Subjects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Retest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4B60EC-4A43-210E-80F9-CEEE905AC89C}"/>
              </a:ext>
            </a:extLst>
          </p:cNvPr>
          <p:cNvSpPr txBox="1"/>
          <p:nvPr/>
        </p:nvSpPr>
        <p:spPr>
          <a:xfrm>
            <a:off x="5783914" y="5756081"/>
            <a:ext cx="6159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Journal of Nuclear Medicine Mar 2025, 66 (3) 398-404; DOI: 10.2967/jnumed.124.268525 </a:t>
            </a:r>
          </a:p>
        </p:txBody>
      </p:sp>
    </p:spTree>
    <p:extLst>
      <p:ext uri="{BB962C8B-B14F-4D97-AF65-F5344CB8AC3E}">
        <p14:creationId xmlns:p14="http://schemas.microsoft.com/office/powerpoint/2010/main" val="2339456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CCA9-4824-E002-5489-0DF80D213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C376DA79-70AE-E1B6-BDE5-58E6325F7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3200" y="6356350"/>
            <a:ext cx="447108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F19E23-D240-45C8-34F3-252D4D0FB3E8}"/>
              </a:ext>
            </a:extLst>
          </p:cNvPr>
          <p:cNvSpPr txBox="1"/>
          <p:nvPr/>
        </p:nvSpPr>
        <p:spPr>
          <a:xfrm>
            <a:off x="304999" y="1417248"/>
            <a:ext cx="11328201" cy="48936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/>
              <a:t>Preparation (Once)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Download </a:t>
            </a:r>
            <a:r>
              <a:rPr lang="en-US" sz="3200" dirty="0" err="1"/>
              <a:t>PETSurfer</a:t>
            </a:r>
            <a:r>
              <a:rPr lang="en-US" sz="3200" dirty="0"/>
              <a:t> Container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Download PETsurfer BIDS App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hlinkClick r:id="rId2"/>
              </a:rPr>
              <a:t>https://github.com/freesurfer/petsurfer-bids</a:t>
            </a:r>
            <a:r>
              <a:rPr lang="en-US" sz="3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Get your data into BIDS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Download from OpenNeuro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aws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s3 sync --no-sign-request s3://openneuro.org/ds004869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cox2-ds004869</a:t>
            </a: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Run through </a:t>
            </a:r>
            <a:r>
              <a:rPr lang="en-US" sz="3200" dirty="0" err="1"/>
              <a:t>PETprep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Run through </a:t>
            </a:r>
            <a:r>
              <a:rPr lang="en-US" sz="3200" dirty="0" err="1"/>
              <a:t>PETfit</a:t>
            </a:r>
            <a:r>
              <a:rPr lang="en-US" sz="3200" dirty="0"/>
              <a:t>/</a:t>
            </a:r>
            <a:r>
              <a:rPr lang="en-US" sz="3200" dirty="0" err="1"/>
              <a:t>BloodStream</a:t>
            </a:r>
            <a:r>
              <a:rPr lang="en-US" sz="3200" dirty="0"/>
              <a:t> (if invasive KM)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E47E2E-E62C-CCB6-F1A5-23196891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18" y="-113759"/>
            <a:ext cx="11612415" cy="1325563"/>
          </a:xfrm>
        </p:spPr>
        <p:txBody>
          <a:bodyPr/>
          <a:lstStyle/>
          <a:p>
            <a:r>
              <a:rPr lang="en-US" dirty="0"/>
              <a:t>Case Study: Cyclooxygenase-2 (COX-2) [</a:t>
            </a:r>
            <a:r>
              <a:rPr lang="en-US" baseline="30000" dirty="0"/>
              <a:t>11</a:t>
            </a:r>
            <a:r>
              <a:rPr lang="en-US" dirty="0"/>
              <a:t>C]MC1</a:t>
            </a:r>
          </a:p>
        </p:txBody>
      </p:sp>
    </p:spTree>
    <p:extLst>
      <p:ext uri="{BB962C8B-B14F-4D97-AF65-F5344CB8AC3E}">
        <p14:creationId xmlns:p14="http://schemas.microsoft.com/office/powerpoint/2010/main" val="210558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2B32A-AB11-BDD8-FCA1-153AEC1E8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C8446-F6C5-D212-F2D3-0D4979109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78" y="214400"/>
            <a:ext cx="10515600" cy="1325563"/>
          </a:xfrm>
        </p:spPr>
        <p:txBody>
          <a:bodyPr/>
          <a:lstStyle/>
          <a:p>
            <a:r>
              <a:rPr lang="en-US" dirty="0"/>
              <a:t>Participant/Individual Kinetic Modeling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86A334-3D8A-3538-9C06-A75E7C803726}"/>
              </a:ext>
            </a:extLst>
          </p:cNvPr>
          <p:cNvSpPr txBox="1"/>
          <p:nvPr/>
        </p:nvSpPr>
        <p:spPr>
          <a:xfrm>
            <a:off x="384552" y="1519191"/>
            <a:ext cx="1066209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petsurfer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-km 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cox2-ds004869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cox2-ds004869/derivatives/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petsurfer</a:t>
            </a:r>
            <a:endParaRPr lang="en-US" sz="24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participant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--surf-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fwhm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10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--vol-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fwhm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6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--km-method MA1 --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tstar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3600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7121887-5012-90F6-0FE5-D1B9C7871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0685" y="6356350"/>
            <a:ext cx="449623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4C8AE99-3C73-A0F3-6C02-4EBF4C99D590}"/>
              </a:ext>
            </a:extLst>
          </p:cNvPr>
          <p:cNvSpPr/>
          <p:nvPr/>
        </p:nvSpPr>
        <p:spPr>
          <a:xfrm>
            <a:off x="561315" y="1874067"/>
            <a:ext cx="5534685" cy="5251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9268CF8-B82E-52E9-6F7C-F9DCB13D21B0}"/>
              </a:ext>
            </a:extLst>
          </p:cNvPr>
          <p:cNvCxnSpPr>
            <a:cxnSpLocks/>
          </p:cNvCxnSpPr>
          <p:nvPr/>
        </p:nvCxnSpPr>
        <p:spPr>
          <a:xfrm flipV="1">
            <a:off x="6096000" y="1593410"/>
            <a:ext cx="2522899" cy="52510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BDDA7A4-43E4-CFAC-0113-8D9FD1DCD690}"/>
              </a:ext>
            </a:extLst>
          </p:cNvPr>
          <p:cNvSpPr txBox="1"/>
          <p:nvPr/>
        </p:nvSpPr>
        <p:spPr>
          <a:xfrm>
            <a:off x="8618899" y="1408744"/>
            <a:ext cx="2851230" cy="3693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Original download location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AD30AD-D0B8-599D-0FF0-95E00F6A9EF7}"/>
              </a:ext>
            </a:extLst>
          </p:cNvPr>
          <p:cNvSpPr txBox="1"/>
          <p:nvPr/>
        </p:nvSpPr>
        <p:spPr>
          <a:xfrm>
            <a:off x="180913" y="4901473"/>
            <a:ext cx="120110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will run all sessions/time points (baseline, blocked, test, retest) of all participants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 tracers found (Cox2 is MC1)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Volume, surface, and ROI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5DDE2EA-B367-64D2-A242-4ADDB91877B5}"/>
              </a:ext>
            </a:extLst>
          </p:cNvPr>
          <p:cNvSpPr/>
          <p:nvPr/>
        </p:nvSpPr>
        <p:spPr>
          <a:xfrm>
            <a:off x="667378" y="2249730"/>
            <a:ext cx="8883022" cy="5251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59F2079-0586-8B57-65E5-093F7A6B32DE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8902179" y="2153739"/>
            <a:ext cx="1060308" cy="22185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F42DC8F-8CE1-FBB4-7F24-57FC947EDFBF}"/>
              </a:ext>
            </a:extLst>
          </p:cNvPr>
          <p:cNvSpPr txBox="1"/>
          <p:nvPr/>
        </p:nvSpPr>
        <p:spPr>
          <a:xfrm>
            <a:off x="9962487" y="1969073"/>
            <a:ext cx="1569917" cy="3693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Output Folder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E73395A-A987-02F5-024F-015BB00F17B0}"/>
              </a:ext>
            </a:extLst>
          </p:cNvPr>
          <p:cNvCxnSpPr>
            <a:cxnSpLocks/>
          </p:cNvCxnSpPr>
          <p:nvPr/>
        </p:nvCxnSpPr>
        <p:spPr>
          <a:xfrm>
            <a:off x="2886075" y="2839418"/>
            <a:ext cx="597105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481354C-B75C-1A2A-7B8A-83727EE72CAB}"/>
              </a:ext>
            </a:extLst>
          </p:cNvPr>
          <p:cNvSpPr txBox="1"/>
          <p:nvPr/>
        </p:nvSpPr>
        <p:spPr>
          <a:xfrm>
            <a:off x="8893057" y="2673353"/>
            <a:ext cx="2887265" cy="3693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Participant/Individual Level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2BD03D16-991E-544E-7321-EB0E1264CC3A}"/>
              </a:ext>
            </a:extLst>
          </p:cNvPr>
          <p:cNvSpPr/>
          <p:nvPr/>
        </p:nvSpPr>
        <p:spPr>
          <a:xfrm>
            <a:off x="215246" y="2931194"/>
            <a:ext cx="5534685" cy="8514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C7A25EA-2172-3A29-4BF3-7818266BECD6}"/>
              </a:ext>
            </a:extLst>
          </p:cNvPr>
          <p:cNvCxnSpPr>
            <a:cxnSpLocks/>
            <a:stCxn id="21" idx="6"/>
          </p:cNvCxnSpPr>
          <p:nvPr/>
        </p:nvCxnSpPr>
        <p:spPr>
          <a:xfrm flipV="1">
            <a:off x="5749931" y="3345772"/>
            <a:ext cx="3141530" cy="111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79B2E52-FEA8-20AE-F411-669F3808C033}"/>
              </a:ext>
            </a:extLst>
          </p:cNvPr>
          <p:cNvSpPr txBox="1"/>
          <p:nvPr/>
        </p:nvSpPr>
        <p:spPr>
          <a:xfrm>
            <a:off x="8927390" y="3179707"/>
            <a:ext cx="2442785" cy="3693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Preprocessing Options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1439709-565A-92EA-7E76-502671473F3E}"/>
              </a:ext>
            </a:extLst>
          </p:cNvPr>
          <p:cNvSpPr/>
          <p:nvPr/>
        </p:nvSpPr>
        <p:spPr>
          <a:xfrm>
            <a:off x="561315" y="3778404"/>
            <a:ext cx="5534685" cy="3457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CB9495D-D701-68B6-D31B-3EBCA44C2C41}"/>
              </a:ext>
            </a:extLst>
          </p:cNvPr>
          <p:cNvCxnSpPr>
            <a:cxnSpLocks/>
            <a:stCxn id="24" idx="6"/>
          </p:cNvCxnSpPr>
          <p:nvPr/>
        </p:nvCxnSpPr>
        <p:spPr>
          <a:xfrm>
            <a:off x="6096000" y="3951273"/>
            <a:ext cx="2099632" cy="163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051DE44-5975-AC3F-BFC7-108D34F9266D}"/>
              </a:ext>
            </a:extLst>
          </p:cNvPr>
          <p:cNvSpPr txBox="1"/>
          <p:nvPr/>
        </p:nvSpPr>
        <p:spPr>
          <a:xfrm>
            <a:off x="8195632" y="3775543"/>
            <a:ext cx="2925416" cy="3693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KM Method and Parameters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68E7C2-C991-DCC9-26BE-741CB35F53CF}"/>
              </a:ext>
            </a:extLst>
          </p:cNvPr>
          <p:cNvSpPr txBox="1"/>
          <p:nvPr/>
        </p:nvSpPr>
        <p:spPr>
          <a:xfrm>
            <a:off x="180913" y="6356350"/>
            <a:ext cx="1136859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ysClr val="windowText" lastClr="000000"/>
                </a:solidFill>
              </a:rPr>
              <a:t>Download command: </a:t>
            </a:r>
            <a:r>
              <a:rPr lang="en-US" sz="2000" b="1" dirty="0" err="1">
                <a:solidFill>
                  <a:sysClr val="windowText" lastClr="000000"/>
                </a:solidFill>
              </a:rPr>
              <a:t>aws</a:t>
            </a:r>
            <a:r>
              <a:rPr lang="en-US" sz="2000" b="1" dirty="0">
                <a:solidFill>
                  <a:sysClr val="windowText" lastClr="000000"/>
                </a:solidFill>
              </a:rPr>
              <a:t> s3 sync --no-sign-request s3://openneuro.org/ds004869 </a:t>
            </a:r>
            <a:r>
              <a:rPr lang="en-US" sz="2000" b="1" dirty="0">
                <a:solidFill>
                  <a:srgbClr val="00B0F0"/>
                </a:solidFill>
              </a:rPr>
              <a:t>cox2-ds004869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2B63C3-A592-9920-B7B9-21C733502679}"/>
              </a:ext>
            </a:extLst>
          </p:cNvPr>
          <p:cNvSpPr txBox="1"/>
          <p:nvPr/>
        </p:nvSpPr>
        <p:spPr>
          <a:xfrm>
            <a:off x="8195632" y="4221543"/>
            <a:ext cx="3765262" cy="369332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Patlak</a:t>
            </a:r>
            <a:r>
              <a:rPr lang="en-US" dirty="0"/>
              <a:t>, Logan, MA1, MRTM1, MRTM2</a:t>
            </a:r>
          </a:p>
        </p:txBody>
      </p:sp>
    </p:spTree>
    <p:extLst>
      <p:ext uri="{BB962C8B-B14F-4D97-AF65-F5344CB8AC3E}">
        <p14:creationId xmlns:p14="http://schemas.microsoft.com/office/powerpoint/2010/main" val="96411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/>
      <p:bldP spid="6" grpId="0" animBg="1"/>
      <p:bldP spid="11" grpId="0" animBg="1"/>
      <p:bldP spid="15" grpId="0" animBg="1"/>
      <p:bldP spid="21" grpId="0" animBg="1"/>
      <p:bldP spid="23" grpId="0" animBg="1"/>
      <p:bldP spid="24" grpId="0" animBg="1"/>
      <p:bldP spid="26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67549F-2B00-6FB7-6CE3-C82B6014F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5551D-1147-DFB9-591D-71BAE233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32" y="0"/>
            <a:ext cx="11353800" cy="1325563"/>
          </a:xfrm>
        </p:spPr>
        <p:txBody>
          <a:bodyPr/>
          <a:lstStyle/>
          <a:p>
            <a:r>
              <a:rPr lang="en-US" dirty="0"/>
              <a:t>Individual Kinetic Modeling: Summary Web Page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EE3A7B95-ADB7-444B-EC1E-9945DDE53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0863" y="6356350"/>
            <a:ext cx="419445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681BB-59F7-0E4A-D7C5-F79CF400C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692" y="946186"/>
            <a:ext cx="6571672" cy="55927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AC8EC4E-B871-AF32-1ABD-2E01E0694C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83" t="7597" r="9826" b="42790"/>
          <a:stretch>
            <a:fillRect/>
          </a:stretch>
        </p:blipFill>
        <p:spPr>
          <a:xfrm>
            <a:off x="6342941" y="1733107"/>
            <a:ext cx="5527644" cy="3039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080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0A28B-47EB-434C-791B-EFAC4BE4E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1236BB7-CFB9-4324-84EA-D9DCF030BD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7663" y="702194"/>
            <a:ext cx="8794227" cy="47629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1627E68-47B4-9060-5E9A-7125AD9597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94" r="9838"/>
          <a:stretch>
            <a:fillRect/>
          </a:stretch>
        </p:blipFill>
        <p:spPr>
          <a:xfrm>
            <a:off x="200110" y="879434"/>
            <a:ext cx="2690066" cy="27963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5EAC7A3-7E4E-767B-C645-7A8DBD400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05836"/>
            <a:ext cx="8779933" cy="1325563"/>
          </a:xfrm>
        </p:spPr>
        <p:txBody>
          <a:bodyPr/>
          <a:lstStyle/>
          <a:p>
            <a:r>
              <a:rPr lang="en-US" dirty="0"/>
              <a:t>Interactive with </a:t>
            </a:r>
            <a:r>
              <a:rPr lang="en-US" dirty="0" err="1"/>
              <a:t>FreeBrowse</a:t>
            </a:r>
            <a:r>
              <a:rPr lang="en-US" dirty="0"/>
              <a:t>/</a:t>
            </a:r>
            <a:r>
              <a:rPr lang="en-US" dirty="0" err="1"/>
              <a:t>NiiView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BF2478-A9A7-21B1-C650-CDF2FB4F0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7" t="50686" r="72489" b="42714"/>
          <a:stretch>
            <a:fillRect/>
          </a:stretch>
        </p:blipFill>
        <p:spPr>
          <a:xfrm>
            <a:off x="0" y="4520776"/>
            <a:ext cx="2792621" cy="944360"/>
          </a:xfrm>
          <a:prstGeom prst="rect">
            <a:avLst/>
          </a:prstGeom>
        </p:spPr>
      </p:pic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00DD657D-4F02-3820-544B-3B2BADE60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0863" y="6356350"/>
            <a:ext cx="419445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62C5AF-E440-F32A-33E4-3C6F6E03246B}"/>
              </a:ext>
            </a:extLst>
          </p:cNvPr>
          <p:cNvSpPr txBox="1"/>
          <p:nvPr/>
        </p:nvSpPr>
        <p:spPr>
          <a:xfrm>
            <a:off x="3717261" y="5453212"/>
            <a:ext cx="585198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Nothing to install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All data stays local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Acknowledgement to Paul </a:t>
            </a:r>
            <a:r>
              <a:rPr lang="en-US" sz="2800" dirty="0" err="1"/>
              <a:t>Wighton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D3FEA-B824-8893-6AC2-BDFCE29D112A}"/>
              </a:ext>
            </a:extLst>
          </p:cNvPr>
          <p:cNvSpPr txBox="1"/>
          <p:nvPr/>
        </p:nvSpPr>
        <p:spPr>
          <a:xfrm>
            <a:off x="200110" y="2346960"/>
            <a:ext cx="958130" cy="426720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4EBBC41-8A47-8998-1DC2-9DD8C2A98661}"/>
              </a:ext>
            </a:extLst>
          </p:cNvPr>
          <p:cNvCxnSpPr>
            <a:stCxn id="7" idx="2"/>
            <a:endCxn id="3" idx="0"/>
          </p:cNvCxnSpPr>
          <p:nvPr/>
        </p:nvCxnSpPr>
        <p:spPr>
          <a:xfrm>
            <a:off x="679175" y="2773680"/>
            <a:ext cx="717136" cy="1747096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EA04752-C679-EA8D-1159-1FF94C30CD53}"/>
              </a:ext>
            </a:extLst>
          </p:cNvPr>
          <p:cNvCxnSpPr>
            <a:cxnSpLocks/>
          </p:cNvCxnSpPr>
          <p:nvPr/>
        </p:nvCxnSpPr>
        <p:spPr>
          <a:xfrm flipV="1">
            <a:off x="2362968" y="4520775"/>
            <a:ext cx="1404375" cy="836740"/>
          </a:xfrm>
          <a:prstGeom prst="straightConnector1">
            <a:avLst/>
          </a:prstGeom>
          <a:ln w="6032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19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D2977-3869-57A7-E6C1-29FB91A7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ED948-5067-153A-324C-32C9BBD2D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78" y="214400"/>
            <a:ext cx="10515600" cy="1325563"/>
          </a:xfrm>
        </p:spPr>
        <p:txBody>
          <a:bodyPr/>
          <a:lstStyle/>
          <a:p>
            <a:r>
              <a:rPr lang="en-US" dirty="0"/>
              <a:t>Group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72B219-B5DF-1EF7-AA78-4D5E6FBB901A}"/>
              </a:ext>
            </a:extLst>
          </p:cNvPr>
          <p:cNvSpPr txBox="1"/>
          <p:nvPr/>
        </p:nvSpPr>
        <p:spPr>
          <a:xfrm>
            <a:off x="350899" y="1369843"/>
            <a:ext cx="106620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petsurfer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-km-group 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cox2-ds004869/derivatives/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petsurfer</a:t>
            </a:r>
            <a:endParaRPr lang="en-US" sz="24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group.analysis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--km-method MA1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--tracer MC1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--spaces fsaverage-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fsaverage-rh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ROI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--vol-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fwhm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6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--surf-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fwhm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10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59DC8C3-BAAE-EDF1-3B49-A82ADCB41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3680" y="6356350"/>
            <a:ext cx="416628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3B830E-B1C1-4067-484F-064B7FE21988}"/>
              </a:ext>
            </a:extLst>
          </p:cNvPr>
          <p:cNvSpPr txBox="1"/>
          <p:nvPr/>
        </p:nvSpPr>
        <p:spPr>
          <a:xfrm>
            <a:off x="350899" y="5151815"/>
            <a:ext cx="106620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petsurfer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-km 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cox2-ds004869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cox2-ds004869/derivatives/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petsurfer</a:t>
            </a:r>
            <a:endParaRPr lang="en-US" sz="24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9704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9F57A-D14A-1622-DF59-EEE7C5CCE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D18EE-49C6-4C3A-A5C4-1A6CF5B2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47" y="121215"/>
            <a:ext cx="10998958" cy="1325563"/>
          </a:xfrm>
        </p:spPr>
        <p:txBody>
          <a:bodyPr/>
          <a:lstStyle/>
          <a:p>
            <a:r>
              <a:rPr lang="en-US" dirty="0"/>
              <a:t>Population Mean Maps of V</a:t>
            </a:r>
            <a:r>
              <a:rPr lang="en-US" baseline="-25000" dirty="0"/>
              <a:t>T</a:t>
            </a:r>
            <a:endParaRPr lang="en-US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D368D0CA-5254-1CFF-1D48-9FB904EA1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596" y="6356350"/>
            <a:ext cx="464712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AD1271-AEA3-E01C-181D-A1D103B792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6" t="9324" r="7306" b="9849"/>
          <a:stretch>
            <a:fillRect/>
          </a:stretch>
        </p:blipFill>
        <p:spPr>
          <a:xfrm>
            <a:off x="3113311" y="1865651"/>
            <a:ext cx="2579915" cy="23404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1C2967-E6B3-3261-C64C-E217A08BED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6" t="8917" r="7306" b="10256"/>
          <a:stretch>
            <a:fillRect/>
          </a:stretch>
        </p:blipFill>
        <p:spPr>
          <a:xfrm>
            <a:off x="533397" y="1865651"/>
            <a:ext cx="2579915" cy="23404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06F6553-80CC-680A-4FB6-4DCD4DE46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4710" y="1854097"/>
            <a:ext cx="5561487" cy="26664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D12A0D1-477E-463A-99B2-53BB20DD3853}"/>
              </a:ext>
            </a:extLst>
          </p:cNvPr>
          <p:cNvSpPr txBox="1"/>
          <p:nvPr/>
        </p:nvSpPr>
        <p:spPr>
          <a:xfrm>
            <a:off x="685803" y="1402963"/>
            <a:ext cx="4691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PETsurfer, </a:t>
            </a:r>
            <a:r>
              <a:rPr lang="en-US" sz="2400" dirty="0" err="1"/>
              <a:t>PETprep</a:t>
            </a:r>
            <a:r>
              <a:rPr lang="en-US" sz="2400" dirty="0"/>
              <a:t>, </a:t>
            </a:r>
            <a:r>
              <a:rPr lang="en-US" sz="2400" dirty="0" err="1"/>
              <a:t>BloodStream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589F4E0-6687-EF78-9951-6FC2ABA3781F}"/>
              </a:ext>
            </a:extLst>
          </p:cNvPr>
          <p:cNvSpPr txBox="1"/>
          <p:nvPr/>
        </p:nvSpPr>
        <p:spPr>
          <a:xfrm>
            <a:off x="6937727" y="1389928"/>
            <a:ext cx="3866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Publication Yan, et al, 2025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AEECB33-C77A-7826-24DE-847DDB65896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067" r="7222" b="2229"/>
          <a:stretch>
            <a:fillRect/>
          </a:stretch>
        </p:blipFill>
        <p:spPr>
          <a:xfrm>
            <a:off x="533397" y="6259831"/>
            <a:ext cx="5159829" cy="4987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507737-D685-2E0F-E00C-0167F8EA5654}"/>
              </a:ext>
            </a:extLst>
          </p:cNvPr>
          <p:cNvSpPr txBox="1"/>
          <p:nvPr/>
        </p:nvSpPr>
        <p:spPr>
          <a:xfrm>
            <a:off x="6095999" y="5006407"/>
            <a:ext cx="54101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Go all the way from BIDS-structured data to publication with 4 BIDS apps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E122A8-8CB6-B896-031D-D60A6B94B3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067" r="7222" b="2229"/>
          <a:stretch>
            <a:fillRect/>
          </a:stretch>
        </p:blipFill>
        <p:spPr>
          <a:xfrm>
            <a:off x="533397" y="3998228"/>
            <a:ext cx="5159829" cy="4987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79865E4-6E9E-375F-95A8-EB9EC176A0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5" t="9324" r="7307" b="9849"/>
          <a:stretch>
            <a:fillRect/>
          </a:stretch>
        </p:blipFill>
        <p:spPr>
          <a:xfrm>
            <a:off x="3113312" y="3999251"/>
            <a:ext cx="2579916" cy="23404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64211C-9AA8-A7B1-202E-782EF3623C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6" t="9324" r="7306" b="9849"/>
          <a:stretch>
            <a:fillRect/>
          </a:stretch>
        </p:blipFill>
        <p:spPr>
          <a:xfrm>
            <a:off x="533398" y="3999252"/>
            <a:ext cx="2579915" cy="234043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167B52-2948-F81A-1DA5-19C2E2B1801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6024" t="3508" r="2468" b="4000"/>
          <a:stretch>
            <a:fillRect/>
          </a:stretch>
        </p:blipFill>
        <p:spPr>
          <a:xfrm>
            <a:off x="7433045" y="4694735"/>
            <a:ext cx="1680188" cy="1698227"/>
          </a:xfrm>
          <a:prstGeom prst="rect">
            <a:avLst/>
          </a:prstGeom>
        </p:spPr>
      </p:pic>
      <p:pic>
        <p:nvPicPr>
          <p:cNvPr id="8" name="Picture 4" descr="NeuroReceptor Mapping Conference 2026">
            <a:extLst>
              <a:ext uri="{FF2B5EF4-FFF2-40B4-BE49-F238E27FC236}">
                <a16:creationId xmlns:a16="http://schemas.microsoft.com/office/drawing/2014/main" id="{126FDB6F-C1AD-624F-E074-CC7869E85C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0" r="59611"/>
          <a:stretch>
            <a:fillRect/>
          </a:stretch>
        </p:blipFill>
        <p:spPr bwMode="auto">
          <a:xfrm>
            <a:off x="5693226" y="4694735"/>
            <a:ext cx="1722578" cy="1697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46760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55D90-E19F-D3ED-EED0-F80CEB1ED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8E678-F8DB-09D1-99FA-9F863BA91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106" y="-263187"/>
            <a:ext cx="11462489" cy="1325563"/>
          </a:xfrm>
        </p:spPr>
        <p:txBody>
          <a:bodyPr/>
          <a:lstStyle/>
          <a:p>
            <a:r>
              <a:rPr lang="en-US" dirty="0"/>
              <a:t>P-value Maps of Group Effects on V</a:t>
            </a:r>
            <a:r>
              <a:rPr lang="en-US" baseline="-25000" dirty="0"/>
              <a:t>T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8867B28-B505-8422-8323-23084C5C5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596" y="6356350"/>
            <a:ext cx="464712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12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525A9A-0B41-5A8C-3186-EB941BA14150}"/>
              </a:ext>
            </a:extLst>
          </p:cNvPr>
          <p:cNvSpPr txBox="1"/>
          <p:nvPr/>
        </p:nvSpPr>
        <p:spPr>
          <a:xfrm>
            <a:off x="0" y="6215580"/>
            <a:ext cx="898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Note: thresholds are ridiculously low to show some effects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5B1D24-9BA4-6BC5-5F9E-23AD6690EF84}"/>
              </a:ext>
            </a:extLst>
          </p:cNvPr>
          <p:cNvSpPr txBox="1"/>
          <p:nvPr/>
        </p:nvSpPr>
        <p:spPr>
          <a:xfrm>
            <a:off x="2456730" y="702334"/>
            <a:ext cx="874225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Age                                              Sex                                          Age-x-Sex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FD4F80-C3F9-1644-2C45-7C7D94545CF7}"/>
              </a:ext>
            </a:extLst>
          </p:cNvPr>
          <p:cNvSpPr txBox="1"/>
          <p:nvPr/>
        </p:nvSpPr>
        <p:spPr>
          <a:xfrm rot="16200000">
            <a:off x="-795868" y="1828366"/>
            <a:ext cx="273227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Cross- sectional</a:t>
            </a:r>
          </a:p>
          <a:p>
            <a:pPr algn="ctr"/>
            <a:r>
              <a:rPr lang="en-US" sz="2800" dirty="0"/>
              <a:t>(Test N=17)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5B7A75-92A8-BD9C-57E5-AC0EF5223490}"/>
              </a:ext>
            </a:extLst>
          </p:cNvPr>
          <p:cNvSpPr txBox="1"/>
          <p:nvPr/>
        </p:nvSpPr>
        <p:spPr>
          <a:xfrm rot="16200000">
            <a:off x="-614412" y="4351755"/>
            <a:ext cx="23376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Longitudinal</a:t>
            </a:r>
          </a:p>
          <a:p>
            <a:pPr algn="ctr"/>
            <a:r>
              <a:rPr lang="en-US" sz="2800" dirty="0"/>
              <a:t> (Test-Retest)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CC15A3D-C559-36AE-2F1F-7E5C7D7077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1" b="11231"/>
          <a:stretch>
            <a:fillRect/>
          </a:stretch>
        </p:blipFill>
        <p:spPr>
          <a:xfrm>
            <a:off x="7810132" y="3659960"/>
            <a:ext cx="3394710" cy="249570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371EB69-2554-5EBE-06BD-88E55E1A19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1" b="11231"/>
          <a:stretch>
            <a:fillRect/>
          </a:stretch>
        </p:blipFill>
        <p:spPr>
          <a:xfrm>
            <a:off x="1063159" y="3659960"/>
            <a:ext cx="3394710" cy="249570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94CB88B-358F-5539-DAA8-E52C6253E8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31" b="11231"/>
          <a:stretch>
            <a:fillRect/>
          </a:stretch>
        </p:blipFill>
        <p:spPr>
          <a:xfrm>
            <a:off x="4445231" y="3659960"/>
            <a:ext cx="3394710" cy="249570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2DA6C91-5FCA-2812-EE2A-66E866879C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9" b="11383"/>
          <a:stretch>
            <a:fillRect/>
          </a:stretch>
        </p:blipFill>
        <p:spPr>
          <a:xfrm>
            <a:off x="7815987" y="1090038"/>
            <a:ext cx="3383000" cy="25179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8F272B7-43C2-58AD-6CBB-6FB62D34FF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9" b="11383"/>
          <a:stretch>
            <a:fillRect/>
          </a:stretch>
        </p:blipFill>
        <p:spPr>
          <a:xfrm>
            <a:off x="1063159" y="1090039"/>
            <a:ext cx="3383000" cy="25179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3E86D8D-73B8-BEF2-CEC7-7BEC004629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9" b="11383"/>
          <a:stretch>
            <a:fillRect/>
          </a:stretch>
        </p:blipFill>
        <p:spPr>
          <a:xfrm>
            <a:off x="4434493" y="1090038"/>
            <a:ext cx="3383000" cy="2517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449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2B9D6-1FCB-82F5-22C7-F57BA63DC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F078-169C-11E8-AFF3-ABBFCD343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Analysis: Correction for Multiple Comparisons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A0C1437-26B0-371D-E8EE-3EABB469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4153" y="6356350"/>
            <a:ext cx="456155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13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0B4DEC-B9B2-C0AC-0499-4780FB89DA9E}"/>
              </a:ext>
            </a:extLst>
          </p:cNvPr>
          <p:cNvSpPr txBox="1"/>
          <p:nvPr/>
        </p:nvSpPr>
        <p:spPr>
          <a:xfrm>
            <a:off x="340740" y="2261323"/>
            <a:ext cx="1066209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petsurfer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-km-group 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cox2-ds004869/derivatives/</a:t>
            </a:r>
            <a:r>
              <a:rPr lang="en-US" sz="2400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petsurfer</a:t>
            </a:r>
            <a:endParaRPr lang="en-US" sz="2400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2400" b="1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group.analysis</a:t>
            </a:r>
            <a:endParaRPr lang="en-US" sz="2400" b="1" dirty="0">
              <a:solidFill>
                <a:srgbClr val="7030A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--km-method MA1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--tracer MC1 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--spaces fsaverage-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lh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fsaverage-rh 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mni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ROI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--vol-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fwhm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6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--surf-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fwhm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10</a:t>
            </a:r>
          </a:p>
          <a:p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--</a:t>
            </a:r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cmc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500 2 abs 2 0.05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E220A1-F40C-DA71-FCEC-553873C84372}"/>
              </a:ext>
            </a:extLst>
          </p:cNvPr>
          <p:cNvSpPr/>
          <p:nvPr/>
        </p:nvSpPr>
        <p:spPr>
          <a:xfrm>
            <a:off x="443098" y="5244913"/>
            <a:ext cx="5534685" cy="3457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7BD5DDE-73C5-AE44-D209-B83E5063E37A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5977783" y="5417782"/>
            <a:ext cx="2099632" cy="1638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EACC313-1DEE-A0FA-53EC-CF8408F8A9E9}"/>
              </a:ext>
            </a:extLst>
          </p:cNvPr>
          <p:cNvSpPr txBox="1"/>
          <p:nvPr/>
        </p:nvSpPr>
        <p:spPr>
          <a:xfrm>
            <a:off x="8077416" y="5242052"/>
            <a:ext cx="3546738" cy="1200329"/>
          </a:xfrm>
          <a:prstGeom prst="rect">
            <a:avLst/>
          </a:prstGeom>
          <a:noFill/>
          <a:ln w="412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Permutation-based Correction for Multiple Comparisons (CMC)</a:t>
            </a:r>
          </a:p>
          <a:p>
            <a:r>
              <a:rPr lang="en-US" dirty="0"/>
              <a:t>N=500. Cluster-wise. Output table That can be inserted into Results.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73F7C8-378B-B25D-DEE4-2E0000244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19" b="11383"/>
          <a:stretch>
            <a:fillRect/>
          </a:stretch>
        </p:blipFill>
        <p:spPr>
          <a:xfrm>
            <a:off x="9173817" y="3375930"/>
            <a:ext cx="2450336" cy="182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68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C2C06-637F-9D97-4CC8-2F77F9D3B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A129E-1925-DBA1-9D43-E6119316D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44" y="-116961"/>
            <a:ext cx="11774464" cy="1325563"/>
          </a:xfrm>
        </p:spPr>
        <p:txBody>
          <a:bodyPr/>
          <a:lstStyle/>
          <a:p>
            <a:r>
              <a:rPr lang="en-US" dirty="0"/>
              <a:t>Summary: End-to-End Processing with BIDS Apps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E2D37-7B15-F08A-5BEF-7E1C0C46A3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294" y="987513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 err="1"/>
              <a:t>PETPrep</a:t>
            </a:r>
            <a:r>
              <a:rPr lang="en-US" sz="3200" dirty="0"/>
              <a:t> – motion correction, registration, PVC, resampling to ROI, MNI152, fsaverage</a:t>
            </a:r>
          </a:p>
          <a:p>
            <a:r>
              <a:rPr lang="en-US" sz="3200" dirty="0"/>
              <a:t>Bloodstream – creates the AIF</a:t>
            </a:r>
          </a:p>
          <a:p>
            <a:r>
              <a:rPr lang="en-US" sz="3200" dirty="0" err="1"/>
              <a:t>PETFit</a:t>
            </a:r>
            <a:r>
              <a:rPr lang="en-US" sz="3200" dirty="0"/>
              <a:t> – Advanced ROI analysis (TC models, </a:t>
            </a:r>
            <a:r>
              <a:rPr lang="en-US" sz="3200" dirty="0" err="1"/>
              <a:t>etc</a:t>
            </a:r>
            <a:r>
              <a:rPr lang="en-US" sz="3200" dirty="0"/>
              <a:t>) with web-based configuration</a:t>
            </a:r>
          </a:p>
          <a:p>
            <a:r>
              <a:rPr lang="en-US" sz="3200" dirty="0"/>
              <a:t>PETsurfer </a:t>
            </a:r>
          </a:p>
          <a:p>
            <a:pPr lvl="1"/>
            <a:r>
              <a:rPr lang="en-US" sz="2800" dirty="0"/>
              <a:t>Individual KM analysis (ROI</a:t>
            </a:r>
            <a:r>
              <a:rPr lang="en-US" sz="2800"/>
              <a:t>, surface, </a:t>
            </a:r>
            <a:r>
              <a:rPr lang="en-US" sz="2800" dirty="0"/>
              <a:t>volume) with linear KM analyses (</a:t>
            </a:r>
            <a:r>
              <a:rPr lang="en-US" sz="2800" dirty="0" err="1"/>
              <a:t>Patlak</a:t>
            </a:r>
            <a:r>
              <a:rPr lang="en-US" sz="2800" dirty="0"/>
              <a:t>, Logan, MRTM)</a:t>
            </a:r>
          </a:p>
          <a:p>
            <a:pPr lvl="2"/>
            <a:r>
              <a:rPr lang="en-US" sz="2400" dirty="0"/>
              <a:t>Web Page + Interactive Map Visualization</a:t>
            </a:r>
          </a:p>
          <a:p>
            <a:pPr lvl="1"/>
            <a:r>
              <a:rPr lang="en-US" sz="2800" dirty="0"/>
              <a:t>Group Analysis – Population Mean Maps, Elaborate Designs, Longitudinal, Correction for Multiple Comparisons ready for publication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8496FC-A172-2988-1D5B-82D0E3333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356350"/>
            <a:ext cx="375988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AutoShape 4" descr="Generated image: Viking helmet brain emblem">
            <a:extLst>
              <a:ext uri="{FF2B5EF4-FFF2-40B4-BE49-F238E27FC236}">
                <a16:creationId xmlns:a16="http://schemas.microsoft.com/office/drawing/2014/main" id="{C972E863-BD23-797D-904D-2B7C9564AB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73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4C8A9-4D1B-4EAF-60B3-08933C132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D0EFE-42DA-E02C-EFBF-DD7EAF82A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844" y="-116961"/>
            <a:ext cx="11774464" cy="1325563"/>
          </a:xfrm>
        </p:spPr>
        <p:txBody>
          <a:bodyPr/>
          <a:lstStyle/>
          <a:p>
            <a:r>
              <a:rPr lang="en-US" dirty="0"/>
              <a:t>Thanks!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A4ED0C-331E-1A8A-CF25-66EE02EBA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356350"/>
            <a:ext cx="375988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15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7B0607-ECC3-C539-4DAA-7AF1E5CD67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024" t="3508" r="2468" b="4000"/>
          <a:stretch>
            <a:fillRect/>
          </a:stretch>
        </p:blipFill>
        <p:spPr>
          <a:xfrm>
            <a:off x="9738547" y="4352925"/>
            <a:ext cx="2478465" cy="2505075"/>
          </a:xfrm>
          <a:prstGeom prst="rect">
            <a:avLst/>
          </a:prstGeom>
        </p:spPr>
      </p:pic>
      <p:sp>
        <p:nvSpPr>
          <p:cNvPr id="8" name="AutoShape 4" descr="Generated image: Viking helmet brain emblem">
            <a:extLst>
              <a:ext uri="{FF2B5EF4-FFF2-40B4-BE49-F238E27FC236}">
                <a16:creationId xmlns:a16="http://schemas.microsoft.com/office/drawing/2014/main" id="{F19847B7-D7C5-CDF1-3871-A9376A96ACA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D36D9C5-98A4-C2C6-4B5D-43C11366B2CF}"/>
              </a:ext>
            </a:extLst>
          </p:cNvPr>
          <p:cNvSpPr txBox="1">
            <a:spLocks/>
          </p:cNvSpPr>
          <p:nvPr/>
        </p:nvSpPr>
        <p:spPr>
          <a:xfrm>
            <a:off x="6157094" y="1282371"/>
            <a:ext cx="3262140" cy="27509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NIH </a:t>
            </a:r>
            <a:r>
              <a:rPr 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Grants </a:t>
            </a:r>
          </a:p>
          <a:p>
            <a:pPr marL="0" indent="0">
              <a:buNone/>
            </a:pPr>
            <a:r>
              <a:rPr 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R01EB023281 </a:t>
            </a:r>
          </a:p>
          <a:p>
            <a:pPr marL="0" indent="0">
              <a:buNone/>
            </a:pPr>
            <a:r>
              <a:rPr 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R01NS083534</a:t>
            </a:r>
          </a:p>
          <a:p>
            <a:pPr marL="0" indent="0">
              <a:buNone/>
            </a:pPr>
            <a:r>
              <a:rPr 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R01EB035560 </a:t>
            </a:r>
          </a:p>
          <a:p>
            <a:pPr marL="0" indent="0">
              <a:buNone/>
            </a:pPr>
            <a:r>
              <a:rPr 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R01AG072056 </a:t>
            </a:r>
          </a:p>
          <a:p>
            <a:pPr marL="0" indent="0">
              <a:buNone/>
            </a:pPr>
            <a:r>
              <a:rPr lang="en-US" sz="240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N95022C00011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675CE634-AA8B-70DC-A4CD-CF1E0EE5F17F}"/>
              </a:ext>
            </a:extLst>
          </p:cNvPr>
          <p:cNvSpPr txBox="1">
            <a:spLocks/>
          </p:cNvSpPr>
          <p:nvPr/>
        </p:nvSpPr>
        <p:spPr>
          <a:xfrm>
            <a:off x="3384919" y="1208602"/>
            <a:ext cx="3033540" cy="37262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Co-Authors: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Paul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Wighton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Martin Norgaard</a:t>
            </a:r>
            <a:endParaRPr 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Granville Matheson</a:t>
            </a:r>
            <a:endParaRPr lang="en-US" sz="24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Melanie Ganz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Cyril Pernet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Anthony Galassi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Gitte Knudsen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Innis</a:t>
            </a:r>
          </a:p>
        </p:txBody>
      </p:sp>
      <p:pic>
        <p:nvPicPr>
          <p:cNvPr id="12" name="Picture 4" descr="NeuroReceptor Mapping Conference 2026">
            <a:extLst>
              <a:ext uri="{FF2B5EF4-FFF2-40B4-BE49-F238E27FC236}">
                <a16:creationId xmlns:a16="http://schemas.microsoft.com/office/drawing/2014/main" id="{40A3B027-5A5C-3108-74C9-0BD06FD322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0" r="59611"/>
          <a:stretch>
            <a:fillRect/>
          </a:stretch>
        </p:blipFill>
        <p:spPr bwMode="auto">
          <a:xfrm>
            <a:off x="-10700" y="4352925"/>
            <a:ext cx="2540996" cy="2503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8885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0E992-2583-705F-4452-12FDBAC87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4BBBA9C-9770-734A-2ED1-7C22C8C6A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 of Presentation</a:t>
            </a:r>
          </a:p>
        </p:txBody>
      </p:sp>
    </p:spTree>
    <p:extLst>
      <p:ext uri="{BB962C8B-B14F-4D97-AF65-F5344CB8AC3E}">
        <p14:creationId xmlns:p14="http://schemas.microsoft.com/office/powerpoint/2010/main" val="2626174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C5235-3938-E3A9-7C5E-269A99674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2D08F-5A4D-0FEC-765A-13484A11C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202721"/>
            <a:ext cx="8798560" cy="1325563"/>
          </a:xfrm>
        </p:spPr>
        <p:txBody>
          <a:bodyPr/>
          <a:lstStyle/>
          <a:p>
            <a:pPr algn="ctr"/>
            <a:r>
              <a:rPr lang="en-US" dirty="0"/>
              <a:t>Surface-based Analysis Benefits: </a:t>
            </a:r>
            <a:br>
              <a:rPr lang="en-US" dirty="0"/>
            </a:br>
            <a:r>
              <a:rPr lang="en-US" dirty="0"/>
              <a:t>Visualization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60F2EB0D-B68F-E279-4803-C58F2CC83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4464" y="6356350"/>
            <a:ext cx="305844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3184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5E426-6616-B46D-DEDE-959F832C3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D9BCD-DF85-CBE3-38E0-40AF4A596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202721"/>
            <a:ext cx="8798560" cy="1325563"/>
          </a:xfrm>
        </p:spPr>
        <p:txBody>
          <a:bodyPr/>
          <a:lstStyle/>
          <a:p>
            <a:pPr algn="ctr"/>
            <a:r>
              <a:rPr lang="en-US" dirty="0"/>
              <a:t>Surface-based Analysis Benefits: </a:t>
            </a:r>
            <a:br>
              <a:rPr lang="en-US" dirty="0"/>
            </a:br>
            <a:r>
              <a:rPr lang="en-US" dirty="0"/>
              <a:t>Spatial smoothing without PVEs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57DB4E6-09E5-6D5D-4866-4C062058A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4464" y="6356350"/>
            <a:ext cx="305844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234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D7F41-B897-29BA-AC45-BCC55506D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1414A-5102-621F-4351-9E239D2D7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18" y="-113759"/>
            <a:ext cx="11853761" cy="1325563"/>
          </a:xfrm>
        </p:spPr>
        <p:txBody>
          <a:bodyPr/>
          <a:lstStyle/>
          <a:p>
            <a:r>
              <a:rPr lang="en-US" dirty="0"/>
              <a:t>Traditional Volume-based Analysis and Smoothing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7D9BC8B-7AED-7501-9CB4-4369179A4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4464" y="6356350"/>
            <a:ext cx="305844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19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E461A47-1ACE-572A-3BC7-3C5FFD96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708" y="1258248"/>
            <a:ext cx="2818743" cy="37023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39C3DA3-6D5A-7872-C1DD-C4A55EDAC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990" y="1258248"/>
            <a:ext cx="2773134" cy="370237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7121C7A-AE0F-B831-FE18-5F7C8A985E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343" y="1211804"/>
            <a:ext cx="2823395" cy="3702377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45A021F-071D-27C0-F16B-F1ED74B689F6}"/>
              </a:ext>
            </a:extLst>
          </p:cNvPr>
          <p:cNvSpPr txBox="1"/>
          <p:nvPr/>
        </p:nvSpPr>
        <p:spPr>
          <a:xfrm>
            <a:off x="637848" y="4960625"/>
            <a:ext cx="211436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Yale NX FDG</a:t>
            </a:r>
          </a:p>
          <a:p>
            <a:r>
              <a:rPr lang="en-US" sz="2800" dirty="0"/>
              <a:t>~2025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982C0C9-6F78-BA6E-8D86-CC7480D42393}"/>
              </a:ext>
            </a:extLst>
          </p:cNvPr>
          <p:cNvSpPr txBox="1"/>
          <p:nvPr/>
        </p:nvSpPr>
        <p:spPr>
          <a:xfrm>
            <a:off x="3319445" y="4968230"/>
            <a:ext cx="3108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Smoothed by 6mm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98BED4-EF1B-FF9E-01AA-72AF2ED9A36A}"/>
              </a:ext>
            </a:extLst>
          </p:cNvPr>
          <p:cNvSpPr txBox="1"/>
          <p:nvPr/>
        </p:nvSpPr>
        <p:spPr>
          <a:xfrm>
            <a:off x="7595771" y="4960625"/>
            <a:ext cx="226696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Siemens HR+</a:t>
            </a:r>
          </a:p>
          <a:p>
            <a:r>
              <a:rPr lang="en-US" sz="2800" dirty="0"/>
              <a:t>~1995</a:t>
            </a:r>
          </a:p>
        </p:txBody>
      </p:sp>
    </p:spTree>
    <p:extLst>
      <p:ext uri="{BB962C8B-B14F-4D97-AF65-F5344CB8AC3E}">
        <p14:creationId xmlns:p14="http://schemas.microsoft.com/office/powerpoint/2010/main" val="32088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E18CC-4BD2-C233-F886-32D30CAE3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5C666-23E4-CE94-A617-C2D12E83C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18" y="-113759"/>
            <a:ext cx="11853761" cy="1325563"/>
          </a:xfrm>
        </p:spPr>
        <p:txBody>
          <a:bodyPr/>
          <a:lstStyle/>
          <a:p>
            <a:r>
              <a:rPr lang="en-US" dirty="0"/>
              <a:t>Surface-based Analysis and Smoothing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44FB9B10-C3EB-6B7E-6FC5-63864203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4464" y="6356350"/>
            <a:ext cx="305844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20</a:t>
            </a:fld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26E8F8-F113-F776-EAEF-91D1AF4C62F8}"/>
              </a:ext>
            </a:extLst>
          </p:cNvPr>
          <p:cNvSpPr txBox="1"/>
          <p:nvPr/>
        </p:nvSpPr>
        <p:spPr>
          <a:xfrm>
            <a:off x="114719" y="4836150"/>
            <a:ext cx="600144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Blue Line is the middle of the cortical ribbon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5682B8-1168-8A7E-13C3-5777FF48C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86"/>
          <a:stretch>
            <a:fillRect/>
          </a:stretch>
        </p:blipFill>
        <p:spPr>
          <a:xfrm>
            <a:off x="73641" y="1211804"/>
            <a:ext cx="3128097" cy="3505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B7527C1-A34B-9399-A9BF-0E7AAE751E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01" r="14812"/>
          <a:stretch>
            <a:fillRect/>
          </a:stretch>
        </p:blipFill>
        <p:spPr>
          <a:xfrm>
            <a:off x="6096000" y="1201663"/>
            <a:ext cx="2897889" cy="3505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4E678F-D907-D39B-034E-85183BB418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0" r="15923"/>
          <a:stretch>
            <a:fillRect/>
          </a:stretch>
        </p:blipFill>
        <p:spPr>
          <a:xfrm>
            <a:off x="8990262" y="1211804"/>
            <a:ext cx="2897889" cy="3505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F09D5F-C4F4-E109-12CE-E7A9B00A1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31" t="7747" r="33011" b="58340"/>
          <a:stretch>
            <a:fillRect/>
          </a:stretch>
        </p:blipFill>
        <p:spPr>
          <a:xfrm>
            <a:off x="3201738" y="1201663"/>
            <a:ext cx="2914428" cy="351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122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E8E78-B7A7-37BE-E447-E79D01AA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1BD6-364B-C7DB-D295-382F0F6A3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18" y="-113759"/>
            <a:ext cx="11853761" cy="1325563"/>
          </a:xfrm>
        </p:spPr>
        <p:txBody>
          <a:bodyPr/>
          <a:lstStyle/>
          <a:p>
            <a:r>
              <a:rPr lang="en-US" dirty="0"/>
              <a:t>Surface Sampling and Smoothing Without PVEs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BD7EDA61-7B25-7C7A-E3C7-AF1A24BF7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815557" y="6396990"/>
            <a:ext cx="305844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21</a:t>
            </a:fld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CEA2F4-CAB9-625A-99FE-464B76916B8B}"/>
              </a:ext>
            </a:extLst>
          </p:cNvPr>
          <p:cNvSpPr txBox="1"/>
          <p:nvPr/>
        </p:nvSpPr>
        <p:spPr>
          <a:xfrm>
            <a:off x="6210641" y="2924125"/>
            <a:ext cx="3300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Smoothed by 10mm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C9CF35-BFC0-5D35-7D3B-785300057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0" r="15923"/>
          <a:stretch>
            <a:fillRect/>
          </a:stretch>
        </p:blipFill>
        <p:spPr>
          <a:xfrm>
            <a:off x="19951" y="869128"/>
            <a:ext cx="2897889" cy="3505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4B6643-1414-1F66-2604-3E07C32431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65" r="3365" b="6371"/>
          <a:stretch>
            <a:fillRect/>
          </a:stretch>
        </p:blipFill>
        <p:spPr>
          <a:xfrm>
            <a:off x="6159481" y="869128"/>
            <a:ext cx="3328606" cy="21744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21A65D-B73A-359F-2AE2-DC34532174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92" r="2488"/>
          <a:stretch>
            <a:fillRect/>
          </a:stretch>
        </p:blipFill>
        <p:spPr>
          <a:xfrm>
            <a:off x="2828352" y="869128"/>
            <a:ext cx="3328607" cy="217445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F7A1198-73E8-E8AA-0B64-01CB4441D5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0" r="14682"/>
          <a:stretch>
            <a:fillRect/>
          </a:stretch>
        </p:blipFill>
        <p:spPr>
          <a:xfrm>
            <a:off x="9488087" y="869128"/>
            <a:ext cx="2702560" cy="34502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0277CAC-7B0F-FEFD-C19E-4E56B765CB3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0" r="53214" b="67571"/>
          <a:stretch>
            <a:fillRect/>
          </a:stretch>
        </p:blipFill>
        <p:spPr>
          <a:xfrm>
            <a:off x="6199787" y="3682739"/>
            <a:ext cx="3154700" cy="271425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2E9B544-85B9-4679-E87D-C8F99AA273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4" r="51403" b="67458"/>
          <a:stretch>
            <a:fillRect/>
          </a:stretch>
        </p:blipFill>
        <p:spPr>
          <a:xfrm>
            <a:off x="3040586" y="3682739"/>
            <a:ext cx="3154700" cy="271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969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48B91-2FEA-44AC-B635-C3EF6426D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5B780-4189-383F-401E-30D67AEE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2202721"/>
            <a:ext cx="8798560" cy="1325563"/>
          </a:xfrm>
        </p:spPr>
        <p:txBody>
          <a:bodyPr/>
          <a:lstStyle/>
          <a:p>
            <a:pPr algn="ctr"/>
            <a:r>
              <a:rPr lang="en-US" dirty="0"/>
              <a:t>Surface-based Analysis Benefits: </a:t>
            </a:r>
            <a:br>
              <a:rPr lang="en-US" dirty="0"/>
            </a:br>
            <a:r>
              <a:rPr lang="en-US" dirty="0"/>
              <a:t>Inter-Subject Registration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64E1B52-007D-0423-DB93-FB0285A4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4640" y="6356350"/>
            <a:ext cx="355668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548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38E0CD-2683-F5BD-B099-2243EC36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DE469-E855-2E5F-9312-036E75E1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6720" cy="1325563"/>
          </a:xfrm>
        </p:spPr>
        <p:txBody>
          <a:bodyPr/>
          <a:lstStyle/>
          <a:p>
            <a:r>
              <a:rPr lang="en-US" dirty="0"/>
              <a:t>Surface-based Inter-subject Registration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D35657-A447-5056-56FD-08792D316F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669" y="2053303"/>
            <a:ext cx="1342436" cy="12044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F833083-99E5-B572-75EB-EBA9BC2BCB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5" r="16927"/>
          <a:stretch>
            <a:fillRect/>
          </a:stretch>
        </p:blipFill>
        <p:spPr>
          <a:xfrm>
            <a:off x="3770927" y="2053303"/>
            <a:ext cx="1066792" cy="1204486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54C4F93B-D46C-28C9-64AD-7EAEFA8951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2" t="19900" r="14392" b="10752"/>
          <a:stretch>
            <a:fillRect/>
          </a:stretch>
        </p:blipFill>
        <p:spPr>
          <a:xfrm>
            <a:off x="8207213" y="2045940"/>
            <a:ext cx="1594766" cy="121921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C2B175B-7FE4-15AB-E2B5-905792E266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40" r="13268"/>
          <a:stretch>
            <a:fillRect/>
          </a:stretch>
        </p:blipFill>
        <p:spPr>
          <a:xfrm>
            <a:off x="6867932" y="2053303"/>
            <a:ext cx="1072501" cy="1204486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CD1421E1-C170-B910-EF6C-1B31EECCF36D}"/>
              </a:ext>
            </a:extLst>
          </p:cNvPr>
          <p:cNvSpPr txBox="1"/>
          <p:nvPr/>
        </p:nvSpPr>
        <p:spPr>
          <a:xfrm>
            <a:off x="5169657" y="3737084"/>
            <a:ext cx="1373454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Apply</a:t>
            </a:r>
          </a:p>
          <a:p>
            <a:pPr algn="ctr"/>
            <a:r>
              <a:rPr lang="en-US" dirty="0"/>
              <a:t>Registration</a:t>
            </a:r>
          </a:p>
        </p:txBody>
      </p:sp>
      <p:sp>
        <p:nvSpPr>
          <p:cNvPr id="51" name="Arrow: Left-Right 50">
            <a:extLst>
              <a:ext uri="{FF2B5EF4-FFF2-40B4-BE49-F238E27FC236}">
                <a16:creationId xmlns:a16="http://schemas.microsoft.com/office/drawing/2014/main" id="{024CFF0F-EC6C-912E-668B-148D427B5C8A}"/>
              </a:ext>
            </a:extLst>
          </p:cNvPr>
          <p:cNvSpPr/>
          <p:nvPr/>
        </p:nvSpPr>
        <p:spPr>
          <a:xfrm>
            <a:off x="4876833" y="2304385"/>
            <a:ext cx="1959103" cy="735091"/>
          </a:xfrm>
          <a:prstGeom prst="left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Registration</a:t>
            </a:r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1498EFDE-0A94-037F-8A4E-E21B9037E416}"/>
              </a:ext>
            </a:extLst>
          </p:cNvPr>
          <p:cNvSpPr/>
          <p:nvPr/>
        </p:nvSpPr>
        <p:spPr>
          <a:xfrm rot="5400000">
            <a:off x="5413684" y="3081517"/>
            <a:ext cx="853056" cy="406570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D38406CA-C220-BB96-90F4-24DF9B235E02}"/>
              </a:ext>
            </a:extLst>
          </p:cNvPr>
          <p:cNvSpPr/>
          <p:nvPr/>
        </p:nvSpPr>
        <p:spPr>
          <a:xfrm>
            <a:off x="1932577" y="2513342"/>
            <a:ext cx="245092" cy="284409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A2B12543-8840-B6B4-8F47-3E748709260B}"/>
              </a:ext>
            </a:extLst>
          </p:cNvPr>
          <p:cNvSpPr/>
          <p:nvPr/>
        </p:nvSpPr>
        <p:spPr>
          <a:xfrm>
            <a:off x="3520105" y="2513342"/>
            <a:ext cx="245092" cy="284409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Arrow: Right 55">
            <a:extLst>
              <a:ext uri="{FF2B5EF4-FFF2-40B4-BE49-F238E27FC236}">
                <a16:creationId xmlns:a16="http://schemas.microsoft.com/office/drawing/2014/main" id="{63408731-0047-4600-BFDF-E88628EB696D}"/>
              </a:ext>
            </a:extLst>
          </p:cNvPr>
          <p:cNvSpPr/>
          <p:nvPr/>
        </p:nvSpPr>
        <p:spPr>
          <a:xfrm rot="10800000">
            <a:off x="9801979" y="2513342"/>
            <a:ext cx="245092" cy="284409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3B6D3B33-BBD0-6146-7C13-E80062483CEC}"/>
              </a:ext>
            </a:extLst>
          </p:cNvPr>
          <p:cNvSpPr/>
          <p:nvPr/>
        </p:nvSpPr>
        <p:spPr>
          <a:xfrm rot="10800000">
            <a:off x="7940433" y="2513342"/>
            <a:ext cx="245092" cy="284409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Arrow: Right 58">
            <a:extLst>
              <a:ext uri="{FF2B5EF4-FFF2-40B4-BE49-F238E27FC236}">
                <a16:creationId xmlns:a16="http://schemas.microsoft.com/office/drawing/2014/main" id="{95696A7F-E1CF-989F-5394-DDB399E38EBE}"/>
              </a:ext>
            </a:extLst>
          </p:cNvPr>
          <p:cNvSpPr/>
          <p:nvPr/>
        </p:nvSpPr>
        <p:spPr>
          <a:xfrm>
            <a:off x="1932731" y="3918045"/>
            <a:ext cx="3236926" cy="284409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33C5BC77-BC66-F9AD-D09E-E3AB816FA7CB}"/>
              </a:ext>
            </a:extLst>
          </p:cNvPr>
          <p:cNvSpPr/>
          <p:nvPr/>
        </p:nvSpPr>
        <p:spPr>
          <a:xfrm>
            <a:off x="6543110" y="3901661"/>
            <a:ext cx="3517505" cy="284409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5BA8F2-8A10-B1DE-12A2-AD13F2A946F4}"/>
              </a:ext>
            </a:extLst>
          </p:cNvPr>
          <p:cNvSpPr txBox="1"/>
          <p:nvPr/>
        </p:nvSpPr>
        <p:spPr>
          <a:xfrm>
            <a:off x="2038910" y="1411194"/>
            <a:ext cx="1694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Individual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2424C3-5B14-3427-7E53-92C1EB78A7A3}"/>
              </a:ext>
            </a:extLst>
          </p:cNvPr>
          <p:cNvSpPr txBox="1"/>
          <p:nvPr/>
        </p:nvSpPr>
        <p:spPr>
          <a:xfrm>
            <a:off x="3860099" y="1773861"/>
            <a:ext cx="888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Sphere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3FFCCB9-D580-074F-D610-5EFCF7F15AE0}"/>
              </a:ext>
            </a:extLst>
          </p:cNvPr>
          <p:cNvSpPr txBox="1"/>
          <p:nvPr/>
        </p:nvSpPr>
        <p:spPr>
          <a:xfrm>
            <a:off x="2425536" y="177386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Inflated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EA17B35-0A00-FD21-D584-28A8D51B0E5A}"/>
              </a:ext>
            </a:extLst>
          </p:cNvPr>
          <p:cNvSpPr txBox="1"/>
          <p:nvPr/>
        </p:nvSpPr>
        <p:spPr>
          <a:xfrm>
            <a:off x="252564" y="1773861"/>
            <a:ext cx="15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White Surface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49331F1-6193-3C1B-C324-1681A3547CE3}"/>
              </a:ext>
            </a:extLst>
          </p:cNvPr>
          <p:cNvSpPr txBox="1"/>
          <p:nvPr/>
        </p:nvSpPr>
        <p:spPr>
          <a:xfrm>
            <a:off x="8152263" y="1411194"/>
            <a:ext cx="16617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fsaverage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361A9B8-B0BB-104D-79C4-F9EED002E03C}"/>
              </a:ext>
            </a:extLst>
          </p:cNvPr>
          <p:cNvSpPr txBox="1"/>
          <p:nvPr/>
        </p:nvSpPr>
        <p:spPr>
          <a:xfrm>
            <a:off x="6982126" y="1773861"/>
            <a:ext cx="8884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Sphere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40A716A-8B27-752D-4A7C-16DB67D773FD}"/>
              </a:ext>
            </a:extLst>
          </p:cNvPr>
          <p:cNvSpPr txBox="1"/>
          <p:nvPr/>
        </p:nvSpPr>
        <p:spPr>
          <a:xfrm>
            <a:off x="8533925" y="1773861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Inflated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53E658-49DE-C8D9-A6A5-6F99BC4B0739}"/>
              </a:ext>
            </a:extLst>
          </p:cNvPr>
          <p:cNvSpPr txBox="1"/>
          <p:nvPr/>
        </p:nvSpPr>
        <p:spPr>
          <a:xfrm>
            <a:off x="10104149" y="1773861"/>
            <a:ext cx="15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White Surface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DA72BA-4FEC-2E7C-15EC-FF3854699B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378" b="9391"/>
          <a:stretch>
            <a:fillRect/>
          </a:stretch>
        </p:blipFill>
        <p:spPr>
          <a:xfrm>
            <a:off x="252564" y="3430455"/>
            <a:ext cx="1697355" cy="12268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4C56025-A85B-42AB-2D48-0C792D865D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66" b="12475"/>
          <a:stretch>
            <a:fillRect/>
          </a:stretch>
        </p:blipFill>
        <p:spPr>
          <a:xfrm>
            <a:off x="10068759" y="2053303"/>
            <a:ext cx="1697355" cy="12192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1FD1338-D168-D70D-B0D1-C7A03600E80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482" b="14616"/>
          <a:stretch>
            <a:fillRect/>
          </a:stretch>
        </p:blipFill>
        <p:spPr>
          <a:xfrm>
            <a:off x="10060615" y="3532310"/>
            <a:ext cx="1697355" cy="11249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AF7AD2-94FC-D730-2185-05B62908E37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92" b="12074"/>
          <a:stretch>
            <a:fillRect/>
          </a:stretch>
        </p:blipFill>
        <p:spPr>
          <a:xfrm>
            <a:off x="239711" y="2072082"/>
            <a:ext cx="1697355" cy="11930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9022696-49BC-2679-7EE7-93706003F67A}"/>
              </a:ext>
            </a:extLst>
          </p:cNvPr>
          <p:cNvSpPr txBox="1"/>
          <p:nvPr/>
        </p:nvSpPr>
        <p:spPr>
          <a:xfrm>
            <a:off x="252564" y="6114797"/>
            <a:ext cx="66648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Yale NX FDG, surface-smoothed by 10mm</a:t>
            </a:r>
          </a:p>
        </p:txBody>
      </p:sp>
    </p:spTree>
    <p:extLst>
      <p:ext uri="{BB962C8B-B14F-4D97-AF65-F5344CB8AC3E}">
        <p14:creationId xmlns:p14="http://schemas.microsoft.com/office/powerpoint/2010/main" val="3736682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1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2" grpId="0"/>
      <p:bldP spid="63" grpId="0"/>
      <p:bldP spid="65" grpId="0"/>
      <p:bldP spid="66" grpId="0"/>
      <p:bldP spid="67" grpId="0"/>
      <p:bldP spid="6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D7A61-DB52-CD63-30CE-BE891D9485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4C39-14B5-05D1-BE51-BD36E14E1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6720" cy="1325563"/>
          </a:xfrm>
        </p:spPr>
        <p:txBody>
          <a:bodyPr/>
          <a:lstStyle/>
          <a:p>
            <a:r>
              <a:rPr lang="en-US" dirty="0"/>
              <a:t>Volume-based Inter-subject Registration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45E8AE0-BB04-97B1-5D3F-01BBB5B5DA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92" r="16192" b="31934"/>
          <a:stretch>
            <a:fillRect/>
          </a:stretch>
        </p:blipFill>
        <p:spPr>
          <a:xfrm>
            <a:off x="1264596" y="3624851"/>
            <a:ext cx="2138788" cy="206582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7B058FD-18F1-D903-B34C-0D7A457CD2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2" t="17948" r="17652" b="18750"/>
          <a:stretch>
            <a:fillRect/>
          </a:stretch>
        </p:blipFill>
        <p:spPr>
          <a:xfrm>
            <a:off x="8112869" y="1716930"/>
            <a:ext cx="2138788" cy="192121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2757D693-A910-52F5-C981-7B8E5A271C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48" t="23397" r="20939" b="18750"/>
          <a:stretch>
            <a:fillRect/>
          </a:stretch>
        </p:blipFill>
        <p:spPr>
          <a:xfrm>
            <a:off x="8146266" y="3644335"/>
            <a:ext cx="2033082" cy="175584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AC51DFE-FF5C-D101-C6E0-7A79A82B72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20" r="18563" b="31614"/>
          <a:stretch>
            <a:fillRect/>
          </a:stretch>
        </p:blipFill>
        <p:spPr>
          <a:xfrm>
            <a:off x="1264596" y="1562590"/>
            <a:ext cx="2138788" cy="2075554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0871820C-D505-CE66-7829-86C0E1BC387F}"/>
              </a:ext>
            </a:extLst>
          </p:cNvPr>
          <p:cNvSpPr txBox="1"/>
          <p:nvPr/>
        </p:nvSpPr>
        <p:spPr>
          <a:xfrm>
            <a:off x="5071400" y="4334598"/>
            <a:ext cx="1373454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Apply</a:t>
            </a:r>
          </a:p>
          <a:p>
            <a:pPr algn="ctr"/>
            <a:r>
              <a:rPr lang="en-US" dirty="0"/>
              <a:t>Registration</a:t>
            </a:r>
          </a:p>
        </p:txBody>
      </p:sp>
      <p:sp>
        <p:nvSpPr>
          <p:cNvPr id="37" name="Arrow: Left-Right 36">
            <a:extLst>
              <a:ext uri="{FF2B5EF4-FFF2-40B4-BE49-F238E27FC236}">
                <a16:creationId xmlns:a16="http://schemas.microsoft.com/office/drawing/2014/main" id="{172839E8-799E-4D82-65B5-3CCCEA592FB1}"/>
              </a:ext>
            </a:extLst>
          </p:cNvPr>
          <p:cNvSpPr/>
          <p:nvPr/>
        </p:nvSpPr>
        <p:spPr>
          <a:xfrm>
            <a:off x="3403385" y="2333464"/>
            <a:ext cx="4709484" cy="735091"/>
          </a:xfrm>
          <a:prstGeom prst="left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Registration (SynthMorph)</a:t>
            </a:r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4A719420-39EB-581B-BA83-63642E8C358B}"/>
              </a:ext>
            </a:extLst>
          </p:cNvPr>
          <p:cNvSpPr/>
          <p:nvPr/>
        </p:nvSpPr>
        <p:spPr>
          <a:xfrm rot="5400000">
            <a:off x="4968779" y="3407691"/>
            <a:ext cx="1447245" cy="406570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FA1FAA10-70CB-C426-5B78-C4C666C268B4}"/>
              </a:ext>
            </a:extLst>
          </p:cNvPr>
          <p:cNvSpPr/>
          <p:nvPr/>
        </p:nvSpPr>
        <p:spPr>
          <a:xfrm>
            <a:off x="3403384" y="4515558"/>
            <a:ext cx="1668016" cy="28990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Arrow: Right 41">
            <a:extLst>
              <a:ext uri="{FF2B5EF4-FFF2-40B4-BE49-F238E27FC236}">
                <a16:creationId xmlns:a16="http://schemas.microsoft.com/office/drawing/2014/main" id="{5ECE4AF7-B029-2AAF-307D-0BDBE2E382B2}"/>
              </a:ext>
            </a:extLst>
          </p:cNvPr>
          <p:cNvSpPr/>
          <p:nvPr/>
        </p:nvSpPr>
        <p:spPr>
          <a:xfrm>
            <a:off x="6444854" y="4532949"/>
            <a:ext cx="1668016" cy="289904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F8BA24D-7653-264C-78DC-027EE5193B06}"/>
              </a:ext>
            </a:extLst>
          </p:cNvPr>
          <p:cNvSpPr txBox="1"/>
          <p:nvPr/>
        </p:nvSpPr>
        <p:spPr>
          <a:xfrm>
            <a:off x="1571983" y="1063953"/>
            <a:ext cx="16946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Individual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66F361A-3649-B8D8-DD8F-1F88E22A3BAF}"/>
              </a:ext>
            </a:extLst>
          </p:cNvPr>
          <p:cNvSpPr txBox="1"/>
          <p:nvPr/>
        </p:nvSpPr>
        <p:spPr>
          <a:xfrm>
            <a:off x="8486399" y="1190615"/>
            <a:ext cx="13917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MNI152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7DF33A-A79F-40D5-D1B5-FFAACDD6BD8C}"/>
              </a:ext>
            </a:extLst>
          </p:cNvPr>
          <p:cNvSpPr txBox="1"/>
          <p:nvPr/>
        </p:nvSpPr>
        <p:spPr>
          <a:xfrm>
            <a:off x="252564" y="6114797"/>
            <a:ext cx="2114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Yale NX FDG</a:t>
            </a:r>
          </a:p>
        </p:txBody>
      </p:sp>
    </p:spTree>
    <p:extLst>
      <p:ext uri="{BB962C8B-B14F-4D97-AF65-F5344CB8AC3E}">
        <p14:creationId xmlns:p14="http://schemas.microsoft.com/office/powerpoint/2010/main" val="1542166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7" grpId="0" animBg="1"/>
      <p:bldP spid="38" grpId="0" animBg="1"/>
      <p:bldP spid="39" grpId="0" animBg="1"/>
      <p:bldP spid="42" grpId="0" animBg="1"/>
      <p:bldP spid="43" grpId="0"/>
      <p:bldP spid="44" grpId="0"/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EF6F4-73C0-8BF0-4EBB-DA3445EF0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170CE-45EE-4713-A22B-831A854A2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56720" cy="1325563"/>
          </a:xfrm>
        </p:spPr>
        <p:txBody>
          <a:bodyPr/>
          <a:lstStyle/>
          <a:p>
            <a:r>
              <a:rPr lang="en-US" dirty="0"/>
              <a:t>How well does volume-based Inter-subject registration do in cortex?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BD755E-0F4E-D3EB-25FB-2AF079056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43" y="2514598"/>
            <a:ext cx="3591143" cy="300603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248177-47C9-6EAE-9968-2C5AF692C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7276" y="2015710"/>
            <a:ext cx="2838084" cy="35049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19F3CAB-13E1-8353-5FE1-51E01D2A33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3111" y="2917282"/>
            <a:ext cx="3563609" cy="260335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ED8B4F2-1615-F7DB-6C89-757D173100CE}"/>
              </a:ext>
            </a:extLst>
          </p:cNvPr>
          <p:cNvGrpSpPr/>
          <p:nvPr/>
        </p:nvGrpSpPr>
        <p:grpSpPr>
          <a:xfrm>
            <a:off x="206638" y="1806728"/>
            <a:ext cx="2973441" cy="4929352"/>
            <a:chOff x="992011" y="1732214"/>
            <a:chExt cx="1513290" cy="349714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D85400FD-1C8C-2C47-6104-B324024E312E}"/>
                </a:ext>
              </a:extLst>
            </p:cNvPr>
            <p:cNvGrpSpPr/>
            <p:nvPr/>
          </p:nvGrpSpPr>
          <p:grpSpPr>
            <a:xfrm rot="16200000">
              <a:off x="-448945" y="3173170"/>
              <a:ext cx="3106209" cy="224298"/>
              <a:chOff x="552451" y="6626328"/>
              <a:chExt cx="5524500" cy="224298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33655CF0-BC72-F267-A5E0-9BF3E9F848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5482" t="86242" r="47867" b="8103"/>
              <a:stretch>
                <a:fillRect/>
              </a:stretch>
            </p:blipFill>
            <p:spPr>
              <a:xfrm>
                <a:off x="552451" y="6626328"/>
                <a:ext cx="3124200" cy="209550"/>
              </a:xfrm>
              <a:prstGeom prst="rect">
                <a:avLst/>
              </a:prstGeom>
            </p:spPr>
          </p:pic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ADFB57B7-F3FB-BAD0-BFB1-F2F62037A3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l="61378" t="86692" r="2781" b="7652"/>
              <a:stretch>
                <a:fillRect/>
              </a:stretch>
            </p:blipFill>
            <p:spPr>
              <a:xfrm>
                <a:off x="3676651" y="6641076"/>
                <a:ext cx="2400300" cy="209550"/>
              </a:xfrm>
              <a:prstGeom prst="rect">
                <a:avLst/>
              </a:prstGeom>
            </p:spPr>
          </p:pic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FDA7963-9436-6B0F-A986-99A6C2B6164D}"/>
                </a:ext>
              </a:extLst>
            </p:cNvPr>
            <p:cNvSpPr txBox="1"/>
            <p:nvPr/>
          </p:nvSpPr>
          <p:spPr>
            <a:xfrm>
              <a:off x="1201561" y="4469091"/>
              <a:ext cx="1179479" cy="7602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noProof="0" dirty="0"/>
                <a:t> 10%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15E0970-64B9-9331-9A62-AD040AA564F8}"/>
                </a:ext>
              </a:extLst>
            </p:cNvPr>
            <p:cNvSpPr txBox="1"/>
            <p:nvPr/>
          </p:nvSpPr>
          <p:spPr>
            <a:xfrm>
              <a:off x="1201561" y="1732214"/>
              <a:ext cx="1303740" cy="76026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noProof="0" dirty="0"/>
                <a:t>100%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8551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344A4-9458-59C0-FF5B-34EA51234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ACFCC-9813-3DC0-77FB-2C5C58BC6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Benefits of Surface-based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DA30A-DC34-B24C-DF95-B2C1AF4B1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475" y="1383498"/>
            <a:ext cx="10515600" cy="4351338"/>
          </a:xfrm>
        </p:spPr>
        <p:txBody>
          <a:bodyPr/>
          <a:lstStyle/>
          <a:p>
            <a:r>
              <a:rPr lang="en-US" dirty="0"/>
              <a:t>Visualization of cortical activity and effects</a:t>
            </a:r>
          </a:p>
          <a:p>
            <a:r>
              <a:rPr lang="en-US" dirty="0"/>
              <a:t>Spatial smoothing without PVEs</a:t>
            </a:r>
          </a:p>
          <a:p>
            <a:r>
              <a:rPr lang="en-US" dirty="0"/>
              <a:t>Only valid way to do voxel-wise analysis with PVC in cortex</a:t>
            </a:r>
          </a:p>
          <a:p>
            <a:r>
              <a:rPr lang="en-US" dirty="0"/>
              <a:t>Group Analysis</a:t>
            </a:r>
          </a:p>
          <a:p>
            <a:pPr lvl="1"/>
            <a:r>
              <a:rPr lang="en-US" dirty="0"/>
              <a:t>Better registration of cortex across subjects</a:t>
            </a:r>
          </a:p>
          <a:p>
            <a:pPr lvl="1"/>
            <a:r>
              <a:rPr lang="en-US" dirty="0"/>
              <a:t>Gray matter only. Vs volume-based methods (SPM, FSL, ANTS, SynthMorph) will result in GM and WM being at the same voxel.</a:t>
            </a:r>
          </a:p>
          <a:p>
            <a:r>
              <a:rPr lang="en-US" u="sng" dirty="0"/>
              <a:t>Only for cortex </a:t>
            </a:r>
            <a:r>
              <a:rPr lang="en-US" dirty="0"/>
              <a:t>– subcortical still needs traditional volume-based analysis, which can still be done in PETsurfer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024C44-C8CC-ECAB-D29F-4CB3100ED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1120" y="6356350"/>
            <a:ext cx="579188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02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9EEBE-B584-FEF3-9114-8E0B582D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7FA5B-B83B-87F8-99D2-13D395081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47" y="121215"/>
            <a:ext cx="10998958" cy="1325563"/>
          </a:xfrm>
        </p:spPr>
        <p:txBody>
          <a:bodyPr/>
          <a:lstStyle/>
          <a:p>
            <a:r>
              <a:rPr lang="en-US" dirty="0"/>
              <a:t>P-value Maps of Group Effects on V</a:t>
            </a:r>
            <a:r>
              <a:rPr lang="en-US" baseline="-25000" dirty="0"/>
              <a:t>T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E14E731-8E79-7D25-8806-D468C681D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596" y="6356350"/>
            <a:ext cx="464712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27</a:t>
            </a:fld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3E0C03-2799-BB91-E0A2-2C73FE728879}"/>
              </a:ext>
            </a:extLst>
          </p:cNvPr>
          <p:cNvSpPr txBox="1"/>
          <p:nvPr/>
        </p:nvSpPr>
        <p:spPr>
          <a:xfrm>
            <a:off x="1041037" y="4572088"/>
            <a:ext cx="54101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Note: thresholds are ridiculously low to show some effects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AA8C837-322A-06FC-2E18-ECEEB0A778C2}"/>
              </a:ext>
            </a:extLst>
          </p:cNvPr>
          <p:cNvGrpSpPr/>
          <p:nvPr/>
        </p:nvGrpSpPr>
        <p:grpSpPr>
          <a:xfrm>
            <a:off x="1041037" y="1972820"/>
            <a:ext cx="10135828" cy="2517901"/>
            <a:chOff x="1041037" y="1972820"/>
            <a:chExt cx="10135828" cy="25179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F9961EA-353C-7B86-A97A-A8BCBA68F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119" b="11383"/>
            <a:stretch>
              <a:fillRect/>
            </a:stretch>
          </p:blipFill>
          <p:spPr>
            <a:xfrm>
              <a:off x="7793865" y="1972820"/>
              <a:ext cx="3383000" cy="25179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AE1B9F2-B705-EEE3-8D07-E5A9F22B46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119" b="11383"/>
            <a:stretch>
              <a:fillRect/>
            </a:stretch>
          </p:blipFill>
          <p:spPr>
            <a:xfrm>
              <a:off x="1041037" y="1972821"/>
              <a:ext cx="3383000" cy="25179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80EF7151-D6F1-D383-850E-EF1B23607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119" b="11383"/>
            <a:stretch>
              <a:fillRect/>
            </a:stretch>
          </p:blipFill>
          <p:spPr>
            <a:xfrm>
              <a:off x="4412371" y="1972820"/>
              <a:ext cx="3383000" cy="2517900"/>
            </a:xfrm>
            <a:prstGeom prst="rect">
              <a:avLst/>
            </a:prstGeom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D14BB93-1B62-25B8-EF34-879B90455C4C}"/>
              </a:ext>
            </a:extLst>
          </p:cNvPr>
          <p:cNvSpPr txBox="1"/>
          <p:nvPr/>
        </p:nvSpPr>
        <p:spPr>
          <a:xfrm>
            <a:off x="2048937" y="1248133"/>
            <a:ext cx="6747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Age                                    Sex                           Age-x-Sex </a:t>
            </a:r>
          </a:p>
        </p:txBody>
      </p:sp>
    </p:spTree>
    <p:extLst>
      <p:ext uri="{BB962C8B-B14F-4D97-AF65-F5344CB8AC3E}">
        <p14:creationId xmlns:p14="http://schemas.microsoft.com/office/powerpoint/2010/main" val="28342935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D484-2A3B-FF26-2DF8-C401BF849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32C33-C36F-E5AF-9A11-7E10FC16F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9725"/>
            <a:ext cx="10515600" cy="1325563"/>
          </a:xfrm>
        </p:spPr>
        <p:txBody>
          <a:bodyPr/>
          <a:lstStyle/>
          <a:p>
            <a:r>
              <a:rPr lang="en-US" dirty="0"/>
              <a:t>Group Analysis of KM: Longitudinal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065FC3-6443-8C9F-6023-5EDB8E671817}"/>
              </a:ext>
            </a:extLst>
          </p:cNvPr>
          <p:cNvSpPr txBox="1"/>
          <p:nvPr/>
        </p:nvSpPr>
        <p:spPr>
          <a:xfrm>
            <a:off x="3047163" y="1584853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apptainer</a:t>
            </a:r>
            <a:r>
              <a:rPr lang="en-US" dirty="0"/>
              <a:t> run 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443282B-4D10-DF72-313A-28F55D606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4153" y="6330950"/>
            <a:ext cx="456155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28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D7D562-2281-B169-A924-03C737DEDE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53" t="21219" r="10318" b="18534"/>
          <a:stretch>
            <a:fillRect/>
          </a:stretch>
        </p:blipFill>
        <p:spPr>
          <a:xfrm>
            <a:off x="1007535" y="1954185"/>
            <a:ext cx="5723466" cy="413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741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036DD3-AC1C-2965-711A-B3475BF62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E22CC-4B19-B263-4EB8-B8813A17F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18" y="-113759"/>
            <a:ext cx="11853761" cy="1325563"/>
          </a:xfrm>
        </p:spPr>
        <p:txBody>
          <a:bodyPr/>
          <a:lstStyle/>
          <a:p>
            <a:r>
              <a:rPr lang="en-US" dirty="0"/>
              <a:t>Surface-based Analysis and Smoothing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A416F05-A329-328A-E1B9-28E8FE447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4464" y="6000750"/>
            <a:ext cx="305844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29</a:t>
            </a:fld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EA7DE-F2A6-32C6-3D62-34E24F9E64C3}"/>
              </a:ext>
            </a:extLst>
          </p:cNvPr>
          <p:cNvSpPr txBox="1"/>
          <p:nvPr/>
        </p:nvSpPr>
        <p:spPr>
          <a:xfrm>
            <a:off x="637847" y="4578809"/>
            <a:ext cx="21143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Yale NX FDG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0DE080E-25A2-336A-1678-54BCC4757A6A}"/>
              </a:ext>
            </a:extLst>
          </p:cNvPr>
          <p:cNvSpPr txBox="1"/>
          <p:nvPr/>
        </p:nvSpPr>
        <p:spPr>
          <a:xfrm>
            <a:off x="0" y="5477530"/>
            <a:ext cx="31082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Smoothed by 6mm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2FDAFF4-188F-98F3-1907-A73A868BDD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0" r="15923"/>
          <a:stretch>
            <a:fillRect/>
          </a:stretch>
        </p:blipFill>
        <p:spPr>
          <a:xfrm>
            <a:off x="19951" y="869128"/>
            <a:ext cx="2897889" cy="3505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53E9F4-EDB6-5DEB-5E05-FAB5BDB0B0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71"/>
          <a:stretch>
            <a:fillRect/>
          </a:stretch>
        </p:blipFill>
        <p:spPr>
          <a:xfrm>
            <a:off x="6455946" y="869128"/>
            <a:ext cx="3568796" cy="21744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9B9C09-7EC1-ACC7-A130-5D3AAA559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7840" y="869128"/>
            <a:ext cx="3582246" cy="21744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CDCC363-CC1C-C3B9-9BBE-45806D4038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5" r="12735"/>
          <a:stretch>
            <a:fillRect/>
          </a:stretch>
        </p:blipFill>
        <p:spPr>
          <a:xfrm>
            <a:off x="9138628" y="3296930"/>
            <a:ext cx="2702560" cy="34381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E272003-2A00-A6A6-D3E6-B30332D7B4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0" r="14682"/>
          <a:stretch>
            <a:fillRect/>
          </a:stretch>
        </p:blipFill>
        <p:spPr>
          <a:xfrm>
            <a:off x="9489440" y="869128"/>
            <a:ext cx="2702560" cy="345020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0C5441-90D1-5B53-6B03-7F0A75A15C2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50" r="53214" b="67571"/>
          <a:stretch>
            <a:fillRect/>
          </a:stretch>
        </p:blipFill>
        <p:spPr>
          <a:xfrm>
            <a:off x="4142244" y="3809448"/>
            <a:ext cx="2498192" cy="214940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699E28A-7D3E-A97A-BB9B-66B9AB9ECA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4" r="51403" b="67458"/>
          <a:stretch>
            <a:fillRect/>
          </a:stretch>
        </p:blipFill>
        <p:spPr>
          <a:xfrm>
            <a:off x="6640436" y="3809448"/>
            <a:ext cx="2498192" cy="214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9066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04A91-613A-8D6D-C8EE-F5A4012B1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B1C7D-D189-ED48-A520-0F4757403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18" y="-113759"/>
            <a:ext cx="11612415" cy="1325563"/>
          </a:xfrm>
        </p:spPr>
        <p:txBody>
          <a:bodyPr/>
          <a:lstStyle/>
          <a:p>
            <a:r>
              <a:rPr lang="en-US" dirty="0"/>
              <a:t>Case Study: Cyclooxygenase-2 (COX-2) [11C]MC1</a:t>
            </a: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BCDDCCA-7EB0-39AA-435E-9497170D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3520" y="6356350"/>
            <a:ext cx="426788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30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E1F4DD-3431-DB76-353E-8D89AE4437FB}"/>
              </a:ext>
            </a:extLst>
          </p:cNvPr>
          <p:cNvSpPr txBox="1"/>
          <p:nvPr/>
        </p:nvSpPr>
        <p:spPr>
          <a:xfrm>
            <a:off x="363266" y="2772688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https://openneuro.org/datasets/ds004869/versions/1.3.2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82C0B9-4C27-1828-E391-AF74C2FED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66" y="1101919"/>
            <a:ext cx="5554098" cy="17386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B84950-57A0-6D41-5ED9-269023577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66" y="3087078"/>
            <a:ext cx="4891268" cy="2957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D5C98D-BCDF-3033-DCB6-93DB442245C3}"/>
              </a:ext>
            </a:extLst>
          </p:cNvPr>
          <p:cNvSpPr txBox="1"/>
          <p:nvPr/>
        </p:nvSpPr>
        <p:spPr>
          <a:xfrm>
            <a:off x="7173497" y="1101919"/>
            <a:ext cx="290316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27 Subjects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10 Subjects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Baseline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Blocking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/>
              <a:t>17 Subjects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Test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Retest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4055C-7443-26BC-2E09-2E6FA3EEF65E}"/>
              </a:ext>
            </a:extLst>
          </p:cNvPr>
          <p:cNvSpPr txBox="1"/>
          <p:nvPr/>
        </p:nvSpPr>
        <p:spPr>
          <a:xfrm>
            <a:off x="363266" y="6075144"/>
            <a:ext cx="61596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Journal of Nuclear Medicine Mar 2025, 66 (3) 398-404; DOI: 10.2967/jnumed.124.268525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D328BB-9EC7-C2DC-E645-D0FEF1A4ABF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9954"/>
          <a:stretch>
            <a:fillRect/>
          </a:stretch>
        </p:blipFill>
        <p:spPr>
          <a:xfrm>
            <a:off x="6624506" y="1101919"/>
            <a:ext cx="3640933" cy="5646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2825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1717A-9698-2331-F592-F9505F4BF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CFD3FA2-5D77-61C4-4CCE-4675AFDE9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3200" y="6356350"/>
            <a:ext cx="447108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31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B679D6-38C1-B3B8-D47B-58626D2D3EDB}"/>
              </a:ext>
            </a:extLst>
          </p:cNvPr>
          <p:cNvSpPr txBox="1"/>
          <p:nvPr/>
        </p:nvSpPr>
        <p:spPr>
          <a:xfrm>
            <a:off x="235148" y="1312473"/>
            <a:ext cx="11328201" cy="390876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200" dirty="0"/>
              <a:t>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Download from OpenNeuro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aws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s3 sync --no-sign-request s3://openneuro.org/ds004869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cox2-ds004869</a:t>
            </a:r>
            <a:endParaRPr lang="en-US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Run through </a:t>
            </a:r>
            <a:r>
              <a:rPr lang="en-US" sz="3200" dirty="0" err="1"/>
              <a:t>PETPrep</a:t>
            </a:r>
            <a:endParaRPr lang="en-US" sz="3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Run through </a:t>
            </a:r>
            <a:r>
              <a:rPr lang="en-US" sz="3200" dirty="0" err="1"/>
              <a:t>KinFitr</a:t>
            </a:r>
            <a:r>
              <a:rPr lang="en-US" sz="3200" dirty="0"/>
              <a:t>/</a:t>
            </a:r>
            <a:r>
              <a:rPr lang="en-US" sz="3200" dirty="0" err="1"/>
              <a:t>BloodStream</a:t>
            </a:r>
            <a:r>
              <a:rPr lang="en-US" sz="3200" dirty="0"/>
              <a:t> (if invasive KM)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Container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PETsurfer BIDS App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>
                <a:hlinkClick r:id="rId2"/>
              </a:rPr>
              <a:t>https://github.com/freesurfer/petsurfer-bids</a:t>
            </a:r>
            <a:r>
              <a:rPr lang="en-US" sz="3200" dirty="0"/>
              <a:t> 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F2217AB-1E79-4CB3-CC21-9CCB59AAD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718" y="-113759"/>
            <a:ext cx="11612415" cy="1325563"/>
          </a:xfrm>
        </p:spPr>
        <p:txBody>
          <a:bodyPr/>
          <a:lstStyle/>
          <a:p>
            <a:r>
              <a:rPr lang="en-US"/>
              <a:t>Case Study: Cyclooxygenase-2 (COX-2) [11C]MC1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7EB8ED-5E31-C9A6-8024-1E9CFCC83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2985" y="1354827"/>
            <a:ext cx="5553769" cy="485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667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7C7C41-F211-1CB4-0348-C65DF612A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7DA55-A062-AFAE-323C-1BF914FE0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747" y="121215"/>
            <a:ext cx="10998958" cy="1325563"/>
          </a:xfrm>
        </p:spPr>
        <p:txBody>
          <a:bodyPr/>
          <a:lstStyle/>
          <a:p>
            <a:r>
              <a:rPr lang="en-US" dirty="0"/>
              <a:t>Population Mean Maps of V</a:t>
            </a:r>
            <a:r>
              <a:rPr lang="en-US" baseline="-25000" dirty="0"/>
              <a:t>T</a:t>
            </a:r>
            <a:endParaRPr lang="en-US" dirty="0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9881284B-D594-BF26-A584-D0109D071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15596" y="6356350"/>
            <a:ext cx="464712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32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91E2476-4927-CDF8-9C06-0487323E31C6}"/>
              </a:ext>
            </a:extLst>
          </p:cNvPr>
          <p:cNvGrpSpPr/>
          <p:nvPr/>
        </p:nvGrpSpPr>
        <p:grpSpPr>
          <a:xfrm>
            <a:off x="533397" y="1865651"/>
            <a:ext cx="5159831" cy="4474031"/>
            <a:chOff x="533397" y="1865651"/>
            <a:chExt cx="5159831" cy="447403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E8BB64D-C84B-9F74-1F97-0B2084C50B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5" t="9324" r="7307" b="9849"/>
            <a:stretch>
              <a:fillRect/>
            </a:stretch>
          </p:blipFill>
          <p:spPr>
            <a:xfrm>
              <a:off x="3113312" y="3999251"/>
              <a:ext cx="2579916" cy="234043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CEA59045-6693-5133-A457-3308FFDB0BD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6" t="9324" r="7306" b="9849"/>
            <a:stretch>
              <a:fillRect/>
            </a:stretch>
          </p:blipFill>
          <p:spPr>
            <a:xfrm>
              <a:off x="3113311" y="1865651"/>
              <a:ext cx="2579915" cy="234043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F706E59-A254-E707-7490-F312A5B934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6" t="8917" r="7306" b="10256"/>
            <a:stretch>
              <a:fillRect/>
            </a:stretch>
          </p:blipFill>
          <p:spPr>
            <a:xfrm>
              <a:off x="533397" y="1865651"/>
              <a:ext cx="2579915" cy="234043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40F16F4-2AAE-55A3-AEFB-1951825725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216" t="9324" r="7306" b="9849"/>
            <a:stretch>
              <a:fillRect/>
            </a:stretch>
          </p:blipFill>
          <p:spPr>
            <a:xfrm>
              <a:off x="533398" y="3999252"/>
              <a:ext cx="2579915" cy="234043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56EF6B5C-9571-E53A-2E84-BABA4CFC34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4710" y="1854097"/>
            <a:ext cx="5561487" cy="266646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5DA7BB2-DB3C-0B8B-FFDE-E3129EE4AFFE}"/>
              </a:ext>
            </a:extLst>
          </p:cNvPr>
          <p:cNvSpPr txBox="1"/>
          <p:nvPr/>
        </p:nvSpPr>
        <p:spPr>
          <a:xfrm>
            <a:off x="685803" y="1402963"/>
            <a:ext cx="46917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PETsurfer, </a:t>
            </a:r>
            <a:r>
              <a:rPr lang="en-US" sz="2400" dirty="0" err="1"/>
              <a:t>PETprep</a:t>
            </a:r>
            <a:r>
              <a:rPr lang="en-US" sz="2400" dirty="0"/>
              <a:t>, </a:t>
            </a:r>
            <a:r>
              <a:rPr lang="en-US" sz="2400" dirty="0" err="1"/>
              <a:t>BloodStream</a:t>
            </a:r>
            <a:endParaRPr lang="en-US" sz="2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3C6243-F7CA-4DE6-ED5B-198DB2825899}"/>
              </a:ext>
            </a:extLst>
          </p:cNvPr>
          <p:cNvSpPr txBox="1"/>
          <p:nvPr/>
        </p:nvSpPr>
        <p:spPr>
          <a:xfrm>
            <a:off x="6937727" y="1389928"/>
            <a:ext cx="38666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Publication Yan, et al, 2025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735EEFD-DA8F-B57D-2F92-F769A0C4C65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79067" r="7222" b="2229"/>
          <a:stretch>
            <a:fillRect/>
          </a:stretch>
        </p:blipFill>
        <p:spPr>
          <a:xfrm>
            <a:off x="533397" y="6259831"/>
            <a:ext cx="5159829" cy="49872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DCBC00-0CDD-97CA-88D4-4983CA030130}"/>
              </a:ext>
            </a:extLst>
          </p:cNvPr>
          <p:cNvSpPr txBox="1"/>
          <p:nvPr/>
        </p:nvSpPr>
        <p:spPr>
          <a:xfrm>
            <a:off x="6095999" y="5006407"/>
            <a:ext cx="541019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Go all the way from BIDS-structured data to publication with 4 BIDS apps</a:t>
            </a:r>
          </a:p>
        </p:txBody>
      </p:sp>
    </p:spTree>
    <p:extLst>
      <p:ext uri="{BB962C8B-B14F-4D97-AF65-F5344CB8AC3E}">
        <p14:creationId xmlns:p14="http://schemas.microsoft.com/office/powerpoint/2010/main" val="240887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202C-2B76-7A63-1BDE-66F9061F0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A0B6E-7EF1-F655-FD32-DD930A65A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Benefits of Surface-based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9ACE83-4272-3A89-4038-AEE60C580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1844" y="1180298"/>
            <a:ext cx="10515600" cy="4351338"/>
          </a:xfrm>
        </p:spPr>
        <p:txBody>
          <a:bodyPr>
            <a:noAutofit/>
          </a:bodyPr>
          <a:lstStyle/>
          <a:p>
            <a:r>
              <a:rPr lang="en-US" dirty="0"/>
              <a:t>Visualization of cortical activity and effects</a:t>
            </a:r>
          </a:p>
          <a:p>
            <a:r>
              <a:rPr lang="en-US" dirty="0"/>
              <a:t>Spatial smoothing without adding Partial Volume Effects (PVEs)</a:t>
            </a:r>
          </a:p>
          <a:p>
            <a:r>
              <a:rPr lang="en-US" dirty="0"/>
              <a:t>Only valid way to do voxel-wise analysis in cortex with Partial Volume Correction (PVC)</a:t>
            </a:r>
          </a:p>
          <a:p>
            <a:r>
              <a:rPr lang="en-US" dirty="0"/>
              <a:t>Group Analysis</a:t>
            </a:r>
          </a:p>
          <a:p>
            <a:pPr lvl="1"/>
            <a:r>
              <a:rPr lang="en-US" dirty="0"/>
              <a:t>Better registration of cortex across subjects</a:t>
            </a:r>
          </a:p>
          <a:p>
            <a:pPr lvl="1"/>
            <a:r>
              <a:rPr lang="en-US" dirty="0"/>
              <a:t>Gray matter only. No PVEs at the group level. Vs volume-based methods (SPM, FSL, ANTS, SynthMorph) will result in GM and WM being mixed.</a:t>
            </a:r>
          </a:p>
          <a:p>
            <a:r>
              <a:rPr lang="en-US" u="sng" dirty="0"/>
              <a:t>Only for cortex </a:t>
            </a:r>
            <a:r>
              <a:rPr lang="en-US" dirty="0"/>
              <a:t>– subcortical still needs traditional volume-based analysis, which can still be done in PETsurfer</a:t>
            </a:r>
          </a:p>
          <a:p>
            <a:r>
              <a:rPr lang="en-US" dirty="0"/>
              <a:t>PETsurfer can do full whole brain traditional volume-based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BF93D-BE7C-263F-D56A-E80FC79E0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74464" y="6356350"/>
            <a:ext cx="305844" cy="365125"/>
          </a:xfrm>
        </p:spPr>
        <p:txBody>
          <a:bodyPr/>
          <a:lstStyle/>
          <a:p>
            <a:fld id="{A5D8D82A-EC8A-4A2E-85AA-9279F9E4CE81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7606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12729</TotalTime>
  <Words>1340</Words>
  <Application>Microsoft Office PowerPoint</Application>
  <PresentationFormat>Widescreen</PresentationFormat>
  <Paragraphs>245</Paragraphs>
  <Slides>33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PETsurfer-BIDS: a BIDS App for Voxel- and Vertex-wise Kinetic Modeling of PET Data</vt:lpstr>
      <vt:lpstr>PETsurfer BIDS App Overview</vt:lpstr>
      <vt:lpstr>Cortex is a 2D Surface Folded in 3D space</vt:lpstr>
      <vt:lpstr>Benefits of Surface-based Analysis</vt:lpstr>
      <vt:lpstr>Case Study: Cyclooxygenase-2 (COX-2) [11C]MC1</vt:lpstr>
      <vt:lpstr>Case Study: Cyclooxygenase-2 (COX-2) [11C]MC1</vt:lpstr>
      <vt:lpstr>Participant/Individual Kinetic Modeling</vt:lpstr>
      <vt:lpstr>Individual Kinetic Modeling: Summary Web Page</vt:lpstr>
      <vt:lpstr>Interactive with FreeBrowse/NiiView</vt:lpstr>
      <vt:lpstr>Group Analysis</vt:lpstr>
      <vt:lpstr>Population Mean Maps of VT</vt:lpstr>
      <vt:lpstr>P-value Maps of Group Effects on VT</vt:lpstr>
      <vt:lpstr>Group Analysis: Correction for Multiple Comparisons</vt:lpstr>
      <vt:lpstr>Summary: End-to-End Processing with BIDS Apps</vt:lpstr>
      <vt:lpstr>Thanks!</vt:lpstr>
      <vt:lpstr>End of Presentation</vt:lpstr>
      <vt:lpstr>Surface-based Analysis Benefits:  Visualization</vt:lpstr>
      <vt:lpstr>Surface-based Analysis Benefits:  Spatial smoothing without PVEs</vt:lpstr>
      <vt:lpstr>Traditional Volume-based Analysis and Smoothing</vt:lpstr>
      <vt:lpstr>Surface-based Analysis and Smoothing</vt:lpstr>
      <vt:lpstr>Surface Sampling and Smoothing Without PVEs</vt:lpstr>
      <vt:lpstr>Surface-based Analysis Benefits:  Inter-Subject Registration</vt:lpstr>
      <vt:lpstr>Surface-based Inter-subject Registration</vt:lpstr>
      <vt:lpstr>Volume-based Inter-subject Registration</vt:lpstr>
      <vt:lpstr>How well does volume-based Inter-subject registration do in cortex?</vt:lpstr>
      <vt:lpstr>Benefits of Surface-based Analysis</vt:lpstr>
      <vt:lpstr>P-value Maps of Group Effects on VT</vt:lpstr>
      <vt:lpstr>Group Analysis of KM: Longitudinal</vt:lpstr>
      <vt:lpstr>Surface-based Analysis and Smoothing</vt:lpstr>
      <vt:lpstr>Case Study: Cyclooxygenase-2 (COX-2) [11C]MC1</vt:lpstr>
      <vt:lpstr>Case Study: Cyclooxygenase-2 (COX-2) [11C]MC1</vt:lpstr>
      <vt:lpstr>Population Mean Maps of VT</vt:lpstr>
      <vt:lpstr>Benefits of Surface-based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Doug G</dc:creator>
  <cp:lastModifiedBy>Doug G</cp:lastModifiedBy>
  <cp:revision>2</cp:revision>
  <dcterms:created xsi:type="dcterms:W3CDTF">2026-06-08T15:51:48Z</dcterms:created>
  <dcterms:modified xsi:type="dcterms:W3CDTF">2026-10-13T21:32:45Z</dcterms:modified>
</cp:coreProperties>
</file>